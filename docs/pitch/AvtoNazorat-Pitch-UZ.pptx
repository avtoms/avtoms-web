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Avtoservis uchun raqamli boshqaruv. Buyurtmalar, mijozlar, ombor, moliya va fiskal cheklar — O‘zbekiston va MDH bozori uchun yaratilgan yagona platforma.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4,7 million avtomobillik bozor daftarda yuritiladi.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Mashina keldi, buyurtma ochildi, mijoz smetani Telegramda tasdiqladi, ustalar telefonidan ishladi, ehtiyot qismlar ombordan yechildi, fiskal chek berildi — pul esa hisobga o‘zi tushdi.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Olti bosqich, va har biri — butun servis ko‘rib turadigan holat. Hech narsa qayta yozilmaydi va yodda saqlanmaydi.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To‘rt eshik, bitta tizim.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«Bu oy foyda qancha?» deb oddiy tilda so‘rang — o‘zbekcha, ruscha yoki inglizcha. Javob haqiqiy jadvallar va kerakli ekranni ochadigan tugmalar bilan keladi.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O‘zbekiston uchun qilingan, tarjima qilingan emas.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Protobuf shartnomalari, bitta shlyuz ortidagi yettita Go xizmati va o‘zini o‘zi yangilaydigan joylashtirish.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O‘nta repozitoriy, umumiy protobuf shartnomasi va bitta buyruq bilan joylashtirish — stek allaqachon to‘liq ishlab turibdi.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Xavfsizlik sozlama emas, konstruksiyaning o‘zi.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Manbalar: O‘zbekiston Respublikasi Prezidenti huzuridagi Statistika agentligi (stat.uz), 2025-yil okt.; tijorat biznes-ma’lumotnomalari, 2026-yil.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Tushum mijoz bilan birga o‘sadi: ko‘proq usta, ko‘proq filial, AI tarifi va tarmoqlar uchun individual integratsiyalar.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Taqdimotdan oldin to‘ldiring — hakamlar va investor tekshiradigan yagona raqamlar shular.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Investitsiya nima beradi.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Har biri uchun qo‘shing: ism, rol va nega aynan u mos ekani haqida bir qator.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Tizim qurildi. Endi — miqyos. — O‘nta repozitoriy, yettita xizmat va ishlayotgan mahsulot. Uni mamlakatdagi har bir servisga olib kirish uchun kapital va hamkorlar izlayapmiz.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43800" y="1508760"/>
            <a:ext cx="4114800" cy="4114800"/>
          </a:xfrm>
          <a:prstGeom prst="ellipse">
            <a:avLst/>
          </a:prstGeom>
          <a:ln w="19050">
            <a:solidFill>
              <a:srgbClr val="2436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43316" y="2208276"/>
            <a:ext cx="2715768" cy="2715768"/>
          </a:xfrm>
          <a:prstGeom prst="ellipse">
            <a:avLst/>
          </a:prstGeom>
          <a:ln w="19050">
            <a:solidFill>
              <a:srgbClr val="3563E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983980" y="2948940"/>
            <a:ext cx="1234440" cy="1234440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566928"/>
            <a:ext cx="274320" cy="274320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54864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AvtoNazorat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32688" y="8595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80" kern="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Auto-Garaj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193852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6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Avtoservis uchun raqamli boshqaruv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48640" y="2286000"/>
            <a:ext cx="7498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Butun avtoservis —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548640" y="3017520"/>
            <a:ext cx="7498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spc="-12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bitta ekranda.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548640" y="3950208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Buyurtmalar, mijozlar, ombor, moliya va fiskal cheklar — O‘zbekiston va MDH bozori uchun yaratilgan yagona platforma.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5029200"/>
            <a:ext cx="1609344" cy="384048"/>
          </a:xfrm>
          <a:prstGeom prst="roundRect">
            <a:avLst>
              <a:gd name="adj" fmla="val 50000"/>
            </a:avLst>
          </a:prstGeom>
          <a:solidFill>
            <a:srgbClr val="1A2740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5029200"/>
            <a:ext cx="1609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yordamchi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304288" y="5029200"/>
            <a:ext cx="937260" cy="384048"/>
          </a:xfrm>
          <a:prstGeom prst="roundRect">
            <a:avLst>
              <a:gd name="adj" fmla="val 50000"/>
            </a:avLst>
          </a:prstGeom>
          <a:solidFill>
            <a:srgbClr val="1A2740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304288" y="5029200"/>
            <a:ext cx="9372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til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387852" y="5029200"/>
            <a:ext cx="1897380" cy="384048"/>
          </a:xfrm>
          <a:prstGeom prst="roundRect">
            <a:avLst>
              <a:gd name="adj" fmla="val 50000"/>
            </a:avLst>
          </a:prstGeom>
          <a:solidFill>
            <a:srgbClr val="1A2740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87852" y="5029200"/>
            <a:ext cx="18973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raqam formati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31536" y="5029200"/>
            <a:ext cx="1897380" cy="384048"/>
          </a:xfrm>
          <a:prstGeom prst="roundRect">
            <a:avLst>
              <a:gd name="adj" fmla="val 50000"/>
            </a:avLst>
          </a:prstGeom>
          <a:solidFill>
            <a:srgbClr val="1A2740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31536" y="5029200"/>
            <a:ext cx="18973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 orqali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60533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50" kern="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President Tech Award · Investorlar uchun taqdimot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MUAMMO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91153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4,7 million avtomobillik bozor daftarda yuritiladi.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536192"/>
            <a:ext cx="5349240" cy="1417320"/>
          </a:xfrm>
          <a:prstGeom prst="roundRect">
            <a:avLst>
              <a:gd name="adj" fmla="val 6452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73936"/>
            <a:ext cx="384048" cy="384048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17739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316736" y="1755648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Tizim o‘rniga daftar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316736" y="2103120"/>
            <a:ext cx="4306824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Buyurtmalar, kelishilgan narxlar va mijoz qarzlari qog‘oz daftarda yoki yozishmada qoladi. Qidirib bo‘lmaydi, tekshirib bo‘lmaydi, xodim ketsa hammasi yo‘qoladi.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91072" y="1536192"/>
            <a:ext cx="5349240" cy="1417320"/>
          </a:xfrm>
          <a:prstGeom prst="roundRect">
            <a:avLst>
              <a:gd name="adj" fmla="val 6452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47104" y="1773936"/>
            <a:ext cx="384048" cy="384048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11" name="Text 9"/>
          <p:cNvSpPr/>
          <p:nvPr/>
        </p:nvSpPr>
        <p:spPr>
          <a:xfrm>
            <a:off x="6547104" y="17739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059168" y="1755648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Egasi ko‘r-ko‘rona ishlaydi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059168" y="2103120"/>
            <a:ext cx="4306824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«Bu oy qancha ishladim va qaysi xizmatdan?» degan savolga kun oxirida kassani qo‘lda sanamasdan javob berib bo‘lmaydi.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136392"/>
            <a:ext cx="5349240" cy="1417320"/>
          </a:xfrm>
          <a:prstGeom prst="roundRect">
            <a:avLst>
              <a:gd name="adj" fmla="val 6452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" y="3374136"/>
            <a:ext cx="384048" cy="384048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3374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316736" y="3355848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Mijoz xabarsiz qoladi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16736" y="3703320"/>
            <a:ext cx="4306824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Smeta tasdiqlanmaydi, mashina qaysi bosqichda ekani noma’lum, chek yo‘q. Ishonch har safar noldan quriladi.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91072" y="3136392"/>
            <a:ext cx="5349240" cy="1417320"/>
          </a:xfrm>
          <a:prstGeom prst="roundRect">
            <a:avLst>
              <a:gd name="adj" fmla="val 6452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47104" y="3374136"/>
            <a:ext cx="384048" cy="384048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21" name="Text 19"/>
          <p:cNvSpPr/>
          <p:nvPr/>
        </p:nvSpPr>
        <p:spPr>
          <a:xfrm>
            <a:off x="6547104" y="3374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059168" y="3355848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Fiskal yuk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059168" y="3703320"/>
            <a:ext cx="4306824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Soliq cheki kechikib yoziladi, qo‘lda to‘ldiriladi yoki umuman yozilmaydi — xavf esa servis zimmasida qoladi.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892040"/>
            <a:ext cx="11094415" cy="1051560"/>
          </a:xfrm>
          <a:prstGeom prst="roundRect">
            <a:avLst>
              <a:gd name="adj" fmla="val 10435"/>
            </a:avLst>
          </a:prstGeom>
          <a:solidFill>
            <a:srgbClr val="0E1729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5038344"/>
            <a:ext cx="3698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spc="-6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4,73 mln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731520" y="5495544"/>
            <a:ext cx="33323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aholidagi avtomobil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246778" y="5038344"/>
            <a:ext cx="3698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spc="-6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+415 ming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4429658" y="5495544"/>
            <a:ext cx="33323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yilda qo‘shildi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944917" y="5038344"/>
            <a:ext cx="3698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spc="-6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2 030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8127797" y="5495544"/>
            <a:ext cx="33323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ma’lumotnomadagi avtoservis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YECHIM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91153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Bitta platforma. Butun servis.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8988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Mashina keldi, buyurtma ochildi, mijoz smetani Telegramda tasdiqladi, ustalar telefonidan ishladi, ehtiyot qismlar ombordan yechildi, fiskal chek berildi — pul esa hisobga o‘zi tushdi.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487168"/>
            <a:ext cx="3484778" cy="1371600"/>
          </a:xfrm>
          <a:prstGeom prst="roundRect">
            <a:avLst>
              <a:gd name="adj" fmla="val 6667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724912"/>
            <a:ext cx="182880" cy="182880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670048"/>
            <a:ext cx="27532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Buyurtmalar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86384" y="3035808"/>
            <a:ext cx="30092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bosqichli jarayon, har bir ishga usta biriktirish va vaqt hisobi.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53458" y="2487168"/>
            <a:ext cx="3484778" cy="1371600"/>
          </a:xfrm>
          <a:prstGeom prst="roundRect">
            <a:avLst>
              <a:gd name="adj" fmla="val 6667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91202" y="2724912"/>
            <a:ext cx="182880" cy="182880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11" name="Text 9"/>
          <p:cNvSpPr/>
          <p:nvPr/>
        </p:nvSpPr>
        <p:spPr>
          <a:xfrm>
            <a:off x="4883810" y="2670048"/>
            <a:ext cx="27532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Mijozlar va avtolar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91202" y="3035808"/>
            <a:ext cx="30092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Davlat raqami bo‘yicha qidiruv, to‘liq tarix va servis kitobchasi.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158277" y="2487168"/>
            <a:ext cx="3484778" cy="1371600"/>
          </a:xfrm>
          <a:prstGeom prst="roundRect">
            <a:avLst>
              <a:gd name="adj" fmla="val 6667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96021" y="2724912"/>
            <a:ext cx="182880" cy="182880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15" name="Text 13"/>
          <p:cNvSpPr/>
          <p:nvPr/>
        </p:nvSpPr>
        <p:spPr>
          <a:xfrm>
            <a:off x="8688629" y="2670048"/>
            <a:ext cx="27532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Ombor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396021" y="3035808"/>
            <a:ext cx="30092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Variantli tovarlar, qoldiq harakati, sotuv va umumiy katalog.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4078224"/>
            <a:ext cx="3484778" cy="1371600"/>
          </a:xfrm>
          <a:prstGeom prst="roundRect">
            <a:avLst>
              <a:gd name="adj" fmla="val 6667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6384" y="4315968"/>
            <a:ext cx="182880" cy="182880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19" name="Text 17"/>
          <p:cNvSpPr/>
          <p:nvPr/>
        </p:nvSpPr>
        <p:spPr>
          <a:xfrm>
            <a:off x="1078992" y="4261104"/>
            <a:ext cx="27532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Moliya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86384" y="4626864"/>
            <a:ext cx="30092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Ko‘p valyuta, mijoz va yetkazib beruvchi hisoblari, xarajatlar va foyda hisoboti.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53458" y="4078224"/>
            <a:ext cx="3484778" cy="1371600"/>
          </a:xfrm>
          <a:prstGeom prst="roundRect">
            <a:avLst>
              <a:gd name="adj" fmla="val 6667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91202" y="4315968"/>
            <a:ext cx="182880" cy="182880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23" name="Text 21"/>
          <p:cNvSpPr/>
          <p:nvPr/>
        </p:nvSpPr>
        <p:spPr>
          <a:xfrm>
            <a:off x="4883810" y="4261104"/>
            <a:ext cx="27532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Fiskal cheklar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91202" y="4626864"/>
            <a:ext cx="30092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O‘zbek cheki: STIR, pozitsiyalar, chegirma, QR va OFD chek raqami.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158277" y="4078224"/>
            <a:ext cx="3484778" cy="1371600"/>
          </a:xfrm>
          <a:prstGeom prst="roundRect">
            <a:avLst>
              <a:gd name="adj" fmla="val 6667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396021" y="4315968"/>
            <a:ext cx="182880" cy="182880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27" name="Text 25"/>
          <p:cNvSpPr/>
          <p:nvPr/>
        </p:nvSpPr>
        <p:spPr>
          <a:xfrm>
            <a:off x="8688629" y="4261104"/>
            <a:ext cx="27532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yordamchi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396021" y="4626864"/>
            <a:ext cx="30092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ta faqat o‘qiydigan vosita — oddiy tilda.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QANDAY ISHLAYDI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91153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Buyurtma o‘zi yuradi.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Olti bosqich, va har biri — butun servis ko‘rib turadigan holat. Hech narsa qayta yozilmaydi va yodda saqlanmaydi.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139696"/>
            <a:ext cx="3484778" cy="1481328"/>
          </a:xfrm>
          <a:prstGeom prst="roundRect">
            <a:avLst>
              <a:gd name="adj" fmla="val 6173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359152"/>
            <a:ext cx="365760" cy="365760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23591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43584" y="2340864"/>
            <a:ext cx="25886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Qabul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86384" y="2743200"/>
            <a:ext cx="300929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Davlat raqami bir soniyada terildi yoki topildi. Mashina, egasi va probeg o‘zi biriktiriladi.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53458" y="2139696"/>
            <a:ext cx="3484778" cy="1481328"/>
          </a:xfrm>
          <a:prstGeom prst="roundRect">
            <a:avLst>
              <a:gd name="adj" fmla="val 6173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91202" y="2359152"/>
            <a:ext cx="365760" cy="365760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12" name="Text 10"/>
          <p:cNvSpPr/>
          <p:nvPr/>
        </p:nvSpPr>
        <p:spPr>
          <a:xfrm>
            <a:off x="4591202" y="23591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48402" y="2340864"/>
            <a:ext cx="25886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Smeta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591202" y="2743200"/>
            <a:ext cx="300929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Xizmat va ehtiyot qismlar narxlar menyusidan olinadi; kelishilgan chegirma yashirilmay qayd etiladi.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158277" y="2139696"/>
            <a:ext cx="3484778" cy="1481328"/>
          </a:xfrm>
          <a:prstGeom prst="roundRect">
            <a:avLst>
              <a:gd name="adj" fmla="val 6173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96021" y="2359152"/>
            <a:ext cx="365760" cy="365760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17" name="Text 15"/>
          <p:cNvSpPr/>
          <p:nvPr/>
        </p:nvSpPr>
        <p:spPr>
          <a:xfrm>
            <a:off x="8396021" y="23591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853221" y="2340864"/>
            <a:ext cx="25886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Tasdiqlash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396021" y="2743200"/>
            <a:ext cx="300929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Mijoz Telegramda yoki himoyalangan havola orqali tasdiqlaydi yoki rad etadi. Ilova o‘rnatish shart emas.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822192"/>
            <a:ext cx="3484778" cy="1481328"/>
          </a:xfrm>
          <a:prstGeom prst="roundRect">
            <a:avLst>
              <a:gd name="adj" fmla="val 6173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86384" y="4041648"/>
            <a:ext cx="365760" cy="365760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22" name="Text 20"/>
          <p:cNvSpPr/>
          <p:nvPr/>
        </p:nvSpPr>
        <p:spPr>
          <a:xfrm>
            <a:off x="786384" y="4041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43584" y="4023360"/>
            <a:ext cx="25886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Jarayonda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86384" y="4425696"/>
            <a:ext cx="300929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 bir ish ustaga biriktiriladi va u telefonidan yuritadi. Taymer haqiqiy vaqtni hisoblaydi.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353458" y="3822192"/>
            <a:ext cx="3484778" cy="1481328"/>
          </a:xfrm>
          <a:prstGeom prst="roundRect">
            <a:avLst>
              <a:gd name="adj" fmla="val 6173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91202" y="4041648"/>
            <a:ext cx="365760" cy="365760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27" name="Text 25"/>
          <p:cNvSpPr/>
          <p:nvPr/>
        </p:nvSpPr>
        <p:spPr>
          <a:xfrm>
            <a:off x="4591202" y="4041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048402" y="4023360"/>
            <a:ext cx="25886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Tayyor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4591202" y="4425696"/>
            <a:ext cx="300929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Mashina tayyor bo‘lishi bilan mijozga xabar ketadi. Ehtiyot qismlar ombordan avtomatik yechiladi.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158277" y="3822192"/>
            <a:ext cx="3484778" cy="1481328"/>
          </a:xfrm>
          <a:prstGeom prst="roundRect">
            <a:avLst>
              <a:gd name="adj" fmla="val 6173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96021" y="4041648"/>
            <a:ext cx="365760" cy="365760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32" name="Text 30"/>
          <p:cNvSpPr/>
          <p:nvPr/>
        </p:nvSpPr>
        <p:spPr>
          <a:xfrm>
            <a:off x="8396021" y="4041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853221" y="4023360"/>
            <a:ext cx="25886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Chek va yopish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8396021" y="4425696"/>
            <a:ext cx="300929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Fiskal chek berildi, to‘lov (bo‘lib yoki nasiyaga) qayd etildi, tushum o‘tkazildi, keyingi eslatma belgilandi.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48640" y="5486400"/>
            <a:ext cx="11094415" cy="713232"/>
          </a:xfrm>
          <a:prstGeom prst="roundRect">
            <a:avLst>
              <a:gd name="adj" fmla="val 12821"/>
            </a:avLst>
          </a:prstGeom>
          <a:solidFill>
            <a:srgbClr val="0E1729"/>
          </a:solidFill>
          <a:ln/>
        </p:spPr>
      </p:sp>
      <p:sp>
        <p:nvSpPr>
          <p:cNvPr id="36" name="Shape 34"/>
          <p:cNvSpPr/>
          <p:nvPr/>
        </p:nvSpPr>
        <p:spPr>
          <a:xfrm>
            <a:off x="822960" y="5751576"/>
            <a:ext cx="182880" cy="182880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37" name="Text 35"/>
          <p:cNvSpPr/>
          <p:nvPr/>
        </p:nvSpPr>
        <p:spPr>
          <a:xfrm>
            <a:off x="1115568" y="5577840"/>
            <a:ext cx="102714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Keyin rejalashtiruvchi o‘zi ishlaydi: muddati kelgan texnik ko‘rik eslatmalari va navbatdan 24 soat oldingi eslatmalar.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MAHSULOT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91153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To‘rt eshik, bitta tizim.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719072"/>
            <a:ext cx="5349240" cy="1627632"/>
          </a:xfrm>
          <a:prstGeom prst="roundRect">
            <a:avLst>
              <a:gd name="adj" fmla="val 5618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956816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Ega paneli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855464" y="1975104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FFB020"/>
          </a:solidFill>
          <a:ln/>
        </p:spPr>
      </p:sp>
      <p:sp>
        <p:nvSpPr>
          <p:cNvPr id="7" name="Text 5"/>
          <p:cNvSpPr/>
          <p:nvPr/>
        </p:nvSpPr>
        <p:spPr>
          <a:xfrm>
            <a:off x="4855464" y="1975104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Veb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41248" y="2414016"/>
            <a:ext cx="476402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Jonli boshqaruv paneli, buyurtmalar doskasi, ombor, moliya va to‘qqiz xil hisobot. Xavfni ko‘taradigan odam ko‘rishi kerak bo‘lgan hamma narsa.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91072" y="1719072"/>
            <a:ext cx="5349240" cy="1627632"/>
          </a:xfrm>
          <a:prstGeom prst="roundRect">
            <a:avLst>
              <a:gd name="adj" fmla="val 5618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0" y="1956816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Usta ilovasi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0232136" y="1975104"/>
            <a:ext cx="1115568" cy="292608"/>
          </a:xfrm>
          <a:prstGeom prst="roundRect">
            <a:avLst>
              <a:gd name="adj" fmla="val 50000"/>
            </a:avLst>
          </a:prstGeom>
          <a:solidFill>
            <a:srgbClr val="FFB020"/>
          </a:solidFill>
          <a:ln/>
        </p:spPr>
      </p:sp>
      <p:sp>
        <p:nvSpPr>
          <p:cNvPr id="12" name="Text 10"/>
          <p:cNvSpPr/>
          <p:nvPr/>
        </p:nvSpPr>
        <p:spPr>
          <a:xfrm>
            <a:off x="10232136" y="1975104"/>
            <a:ext cx="1115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Telefon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583680" y="2414016"/>
            <a:ext cx="476402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Faqat o‘ziga biriktirilgan ishlar, holat ikki bosishda. Tannarx, ustama va foyda bu ekranga umuman berilmaydi.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602736"/>
            <a:ext cx="5349240" cy="1627632"/>
          </a:xfrm>
          <a:prstGeom prst="roundRect">
            <a:avLst>
              <a:gd name="adj" fmla="val 5618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3840480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Mijoz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398264" y="3858768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FFB020"/>
          </a:solidFill>
          <a:ln/>
        </p:spPr>
      </p:sp>
      <p:sp>
        <p:nvSpPr>
          <p:cNvPr id="17" name="Text 15"/>
          <p:cNvSpPr/>
          <p:nvPr/>
        </p:nvSpPr>
        <p:spPr>
          <a:xfrm>
            <a:off x="4398264" y="3858768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41248" y="4297680"/>
            <a:ext cx="476402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Smetani tasdiqlash, ishni kuzatish, «mashinangiz tayyor» xabari va tarix. O‘rnatadigan narsa yo‘q.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91072" y="3602736"/>
            <a:ext cx="5349240" cy="1627632"/>
          </a:xfrm>
          <a:prstGeom prst="roundRect">
            <a:avLst>
              <a:gd name="adj" fmla="val 5618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0" y="3840480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panel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0049256" y="3858768"/>
            <a:ext cx="1298448" cy="292608"/>
          </a:xfrm>
          <a:prstGeom prst="roundRect">
            <a:avLst>
              <a:gd name="adj" fmla="val 50000"/>
            </a:avLst>
          </a:prstGeom>
          <a:solidFill>
            <a:srgbClr val="FFB020"/>
          </a:solidFill>
          <a:ln/>
        </p:spPr>
      </p:sp>
      <p:sp>
        <p:nvSpPr>
          <p:cNvPr id="22" name="Text 20"/>
          <p:cNvSpPr/>
          <p:nvPr/>
        </p:nvSpPr>
        <p:spPr>
          <a:xfrm>
            <a:off x="10049256" y="3858768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Platforma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83680" y="4297680"/>
            <a:ext cx="476402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Barcha servislar ustidan nazorat: umumiy tovar katalogi, integratsiyalar, arizalar va platforma bo‘yicha tahlil.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FARQ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91153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Ma’lumotlaringiz bilan gaplashing.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89888"/>
            <a:ext cx="10424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«Bu oy foyda qancha?» deb oddiy tilda so‘rang — o‘zbekcha, ruscha yoki inglizcha. Javob haqiqiy jadvallar va kerakli ekranni ochadigan tugmalar bilan keladi.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304288"/>
            <a:ext cx="5349240" cy="3785616"/>
          </a:xfrm>
          <a:prstGeom prst="roundRect">
            <a:avLst>
              <a:gd name="adj" fmla="val 2899"/>
            </a:avLst>
          </a:prstGeom>
          <a:solidFill>
            <a:srgbClr val="1A2740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20240" y="2633472"/>
            <a:ext cx="3657600" cy="475488"/>
          </a:xfrm>
          <a:prstGeom prst="roundRect">
            <a:avLst>
              <a:gd name="adj" fmla="val 30769"/>
            </a:avLst>
          </a:prstGeom>
          <a:solidFill>
            <a:srgbClr val="24365A"/>
          </a:solidFill>
          <a:ln/>
        </p:spPr>
      </p:sp>
      <p:sp>
        <p:nvSpPr>
          <p:cNvPr id="7" name="Text 5"/>
          <p:cNvSpPr/>
          <p:nvPr/>
        </p:nvSpPr>
        <p:spPr>
          <a:xfrm>
            <a:off x="1920240" y="2633472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oy foyda qancha?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868680" y="3328416"/>
            <a:ext cx="4709160" cy="1517904"/>
          </a:xfrm>
          <a:prstGeom prst="roundRect">
            <a:avLst>
              <a:gd name="adj" fmla="val 7229"/>
            </a:avLst>
          </a:prstGeom>
          <a:solidFill>
            <a:srgbClr val="0E1729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15568" y="3529584"/>
            <a:ext cx="4215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-5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 foyda: 38,6 mln so‘m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115568" y="3986784"/>
            <a:ext cx="4215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O‘tgan oyga nisbatan +18%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115568" y="4315968"/>
            <a:ext cx="2194560" cy="365760"/>
          </a:xfrm>
          <a:prstGeom prst="roundRect">
            <a:avLst>
              <a:gd name="adj" fmla="val 25000"/>
            </a:avLst>
          </a:prstGeom>
          <a:solidFill>
            <a:srgbClr val="3563E9"/>
          </a:solidFill>
          <a:ln/>
        </p:spPr>
      </p:sp>
      <p:sp>
        <p:nvSpPr>
          <p:cNvPr id="12" name="Text 10"/>
          <p:cNvSpPr/>
          <p:nvPr/>
        </p:nvSpPr>
        <p:spPr>
          <a:xfrm>
            <a:off x="1115568" y="431596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Moliyani ochish →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68680" y="5047488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Bundan tashqari MCP server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68680" y="5340096"/>
            <a:ext cx="4709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Xuddi shu vositalar to‘plami Model Context Protocol (JSON-RPC) orqali ochilgan: ega o‘zi ishlatayotgan token bilan Claude Desktop’ni o‘z servisiga ulashi mumkin.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91072" y="2304288"/>
            <a:ext cx="5349240" cy="3785616"/>
          </a:xfrm>
          <a:prstGeom prst="roundRect">
            <a:avLst>
              <a:gd name="adj" fmla="val 2899"/>
            </a:avLst>
          </a:prstGeom>
          <a:solidFill>
            <a:srgbClr val="1A2740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11112" y="2615184"/>
            <a:ext cx="329184" cy="329184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17" name="Text 15"/>
          <p:cNvSpPr/>
          <p:nvPr/>
        </p:nvSpPr>
        <p:spPr>
          <a:xfrm>
            <a:off x="7068312" y="2596896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Tuzilishiga ko‘ra faqat o‘qiydi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656832" y="3200400"/>
            <a:ext cx="4617720" cy="2596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1100"/>
              </a:spcAft>
              <a:buSzPct val="100000"/>
              <a:buChar char="•"/>
            </a:pPr>
            <a:r>
              <a:rPr lang="en-US" sz="110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Ro‘yxatda faqat List va Get vositalari bor — yaratish, o‘zgartirish yoki o‘chirish vositasi umuman mavjud emas.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1100"/>
              </a:spcAft>
              <a:buSzPct val="100000"/>
              <a:buChar char="•"/>
            </a:pPr>
            <a:r>
              <a:rPr lang="en-US" sz="110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Servis modelning so‘rovidan emas, tizimga kirgan foydalanuvchi ma’lumotidan aniqlanadi.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1100"/>
              </a:spcAft>
              <a:buSzPct val="100000"/>
              <a:buChar char="•"/>
            </a:pPr>
            <a:r>
              <a:rPr lang="en-US" sz="110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Ega doimo o‘z servisiga bog‘langan; servislar bo‘ylab faqat super-administrator o‘qiy oladi.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1100"/>
              </a:spcAft>
              <a:buSzPct val="100000"/>
              <a:buChar char="•"/>
            </a:pPr>
            <a:r>
              <a:rPr lang="en-US" sz="110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Javob ekranga chiqishidan oldin qat’iy ruxsat etilgan teglar ro‘yxati bo‘yicha tozalanadi.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MAHALLIYLASHTIRISH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91153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O‘zbekiston uchun qilingan, tarjima qilingan emas.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81580" cy="1883664"/>
          </a:xfrm>
          <a:prstGeom prst="roundRect">
            <a:avLst>
              <a:gd name="adj" fmla="val 4854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1837944"/>
            <a:ext cx="164592" cy="164592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2057400"/>
            <a:ext cx="21792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Fiskal chek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68096" y="2642616"/>
            <a:ext cx="21426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Sotuvchi, STIR, kassir, pozitsiyalar, QR va OFD chek raqami.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386252" y="1600200"/>
            <a:ext cx="2581580" cy="1883664"/>
          </a:xfrm>
          <a:prstGeom prst="roundRect">
            <a:avLst>
              <a:gd name="adj" fmla="val 4854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05708" y="1837944"/>
            <a:ext cx="164592" cy="164592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10" name="Text 8"/>
          <p:cNvSpPr/>
          <p:nvPr/>
        </p:nvSpPr>
        <p:spPr>
          <a:xfrm>
            <a:off x="3605708" y="2057400"/>
            <a:ext cx="21792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So‘m va ko‘p valyuta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605708" y="2642616"/>
            <a:ext cx="21426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 bir servisning o‘z kursi va to‘liq kurs tarixi bor.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223864" y="1600200"/>
            <a:ext cx="2581580" cy="1883664"/>
          </a:xfrm>
          <a:prstGeom prst="roundRect">
            <a:avLst>
              <a:gd name="adj" fmla="val 4854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43320" y="1837944"/>
            <a:ext cx="164592" cy="164592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14" name="Text 12"/>
          <p:cNvSpPr/>
          <p:nvPr/>
        </p:nvSpPr>
        <p:spPr>
          <a:xfrm>
            <a:off x="6443320" y="2057400"/>
            <a:ext cx="21792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Nasiya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443320" y="2642616"/>
            <a:ext cx="21426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Qarzga sotuv haqiqiy mijoz hisoblarida yuritiladi.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061475" y="1600200"/>
            <a:ext cx="2581580" cy="1883664"/>
          </a:xfrm>
          <a:prstGeom prst="roundRect">
            <a:avLst>
              <a:gd name="adj" fmla="val 4854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280931" y="1837944"/>
            <a:ext cx="164592" cy="164592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18" name="Text 16"/>
          <p:cNvSpPr/>
          <p:nvPr/>
        </p:nvSpPr>
        <p:spPr>
          <a:xfrm>
            <a:off x="9280931" y="2057400"/>
            <a:ext cx="21792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Kompaniyalar hisob-kitobi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280931" y="2642616"/>
            <a:ext cx="21426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Yuridik shaxslar o‘rtasida pul o‘tkazma va kontragentlar bilan hisob-kitob.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3703320"/>
            <a:ext cx="2581580" cy="1883664"/>
          </a:xfrm>
          <a:prstGeom prst="roundRect">
            <a:avLst>
              <a:gd name="adj" fmla="val 4854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3941064"/>
            <a:ext cx="164592" cy="164592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22" name="Text 20"/>
          <p:cNvSpPr/>
          <p:nvPr/>
        </p:nvSpPr>
        <p:spPr>
          <a:xfrm>
            <a:off x="768096" y="4160520"/>
            <a:ext cx="21792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SMS va Telegram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68096" y="4745736"/>
            <a:ext cx="21426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PlayMobile orqali SMS va Telegram Gateway orqali OTP, zaxira kanali bilan.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386252" y="3703320"/>
            <a:ext cx="2581580" cy="1883664"/>
          </a:xfrm>
          <a:prstGeom prst="roundRect">
            <a:avLst>
              <a:gd name="adj" fmla="val 4854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05708" y="3941064"/>
            <a:ext cx="164592" cy="164592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26" name="Text 24"/>
          <p:cNvSpPr/>
          <p:nvPr/>
        </p:nvSpPr>
        <p:spPr>
          <a:xfrm>
            <a:off x="3605708" y="4160520"/>
            <a:ext cx="21792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Uch til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605708" y="4745736"/>
            <a:ext cx="21426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O‘zbekcha, Ўзбекча va Русский — butun interfeys bo‘ylab.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223864" y="3703320"/>
            <a:ext cx="2581580" cy="1883664"/>
          </a:xfrm>
          <a:prstGeom prst="roundRect">
            <a:avLst>
              <a:gd name="adj" fmla="val 4854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43320" y="3941064"/>
            <a:ext cx="164592" cy="164592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30" name="Text 28"/>
          <p:cNvSpPr/>
          <p:nvPr/>
        </p:nvSpPr>
        <p:spPr>
          <a:xfrm>
            <a:off x="6443320" y="4160520"/>
            <a:ext cx="21792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To‘qqiz raqam formati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443320" y="4745736"/>
            <a:ext cx="21426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O‘zbek davlat raqamlari va yana sakkizta MDH formati aniq ko‘rinishda.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9061475" y="3703320"/>
            <a:ext cx="2581580" cy="1883664"/>
          </a:xfrm>
          <a:prstGeom prst="roundRect">
            <a:avLst>
              <a:gd name="adj" fmla="val 4854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280931" y="3941064"/>
            <a:ext cx="164592" cy="164592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34" name="Text 32"/>
          <p:cNvSpPr/>
          <p:nvPr/>
        </p:nvSpPr>
        <p:spPr>
          <a:xfrm>
            <a:off x="9280931" y="4160520"/>
            <a:ext cx="21792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Avtomobillar katalogi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9280931" y="4745736"/>
            <a:ext cx="21426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Markalar va modellar logotiplari bilan, markazlashgan holda yuritiladi.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TEXNOLOGIYA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91153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Infratuzilma sifatida qurilgan.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Protobuf shartnomalari, bitta shlyuz ortidagi yettita Go xizmati va o‘zini o‘zi yangilaydigan joylashtirish.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993392"/>
            <a:ext cx="6675120" cy="676656"/>
          </a:xfrm>
          <a:prstGeom prst="roundRect">
            <a:avLst>
              <a:gd name="adj" fmla="val 13514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993392"/>
            <a:ext cx="1417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1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Mijozlar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267712" y="1993392"/>
            <a:ext cx="471830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Veb panel · Usta telefoni · Telegram bot · Admin panel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798064"/>
            <a:ext cx="6675120" cy="676656"/>
          </a:xfrm>
          <a:prstGeom prst="roundRect">
            <a:avLst>
              <a:gd name="adj" fmla="val 13514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2798064"/>
            <a:ext cx="1417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1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Chegara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267712" y="2798064"/>
            <a:ext cx="471830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Caddy — TLS sertifikatlari avtomatik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3602736"/>
            <a:ext cx="6675120" cy="676656"/>
          </a:xfrm>
          <a:prstGeom prst="roundRect">
            <a:avLst>
              <a:gd name="adj" fmla="val 13514"/>
            </a:avLst>
          </a:prstGeom>
          <a:solidFill>
            <a:srgbClr val="0E1729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3602736"/>
            <a:ext cx="1417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1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Shlyuz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267712" y="3602736"/>
            <a:ext cx="471830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HTTP/JSON → gRPC · 169 endpoint · avtorizatsiya, huquqlar, CORS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4407408"/>
            <a:ext cx="6675120" cy="676656"/>
          </a:xfrm>
          <a:prstGeom prst="roundRect">
            <a:avLst>
              <a:gd name="adj" fmla="val 13514"/>
            </a:avLst>
          </a:prstGeom>
          <a:solidFill>
            <a:srgbClr val="0E1729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4407408"/>
            <a:ext cx="1417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1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Xizmatlar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267712" y="4407408"/>
            <a:ext cx="471830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· customer · workorder · invoice · notification · reporting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5212080"/>
            <a:ext cx="6675120" cy="676656"/>
          </a:xfrm>
          <a:prstGeom prst="roundRect">
            <a:avLst>
              <a:gd name="adj" fmla="val 13514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6384" y="5212080"/>
            <a:ext cx="1417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1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Ma’lumotlar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267712" y="5212080"/>
            <a:ext cx="471830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PostgreSQL, oltita alohida baza · NATS hodisalar shinasi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589520" y="1993392"/>
            <a:ext cx="4053535" cy="3895344"/>
          </a:xfrm>
          <a:prstGeom prst="roundRect">
            <a:avLst>
              <a:gd name="adj" fmla="val 2817"/>
            </a:avLst>
          </a:prstGeom>
          <a:solidFill>
            <a:srgbClr val="0E1729"/>
          </a:solidFill>
          <a:ln/>
        </p:spPr>
      </p:sp>
      <p:sp>
        <p:nvSpPr>
          <p:cNvPr id="21" name="Shape 19"/>
          <p:cNvSpPr/>
          <p:nvPr/>
        </p:nvSpPr>
        <p:spPr>
          <a:xfrm>
            <a:off x="7900416" y="2322576"/>
            <a:ext cx="292608" cy="292608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22" name="Text 20"/>
          <p:cNvSpPr/>
          <p:nvPr/>
        </p:nvSpPr>
        <p:spPr>
          <a:xfrm>
            <a:off x="8302752" y="2304288"/>
            <a:ext cx="30476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 / CD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918704" y="2852928"/>
            <a:ext cx="3395167" cy="279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har bir xizmat uchun image yig‘adi va har bir birlashtirishda chop etadi.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Watchtower yangilangan xizmatlarni o‘zi tortib qayta ishga tushiradi — qo‘lda deploy yo‘q.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Migratsiyalar har qayta ishga tushishda qulf ostida xavfsiz qayta o‘ynatiladi.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Prometheus, Grafana, Loki va Promtail stek bilan birga keladi.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uchun bitta VPS’ga mo‘ljallangan, boshqariladigan Postgres va HA’ga o‘tish yo‘li hujjatlashtirilgan.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ISBOT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91153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 prototip emas. Bu ishlayotgan tizim.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3454298" cy="1627632"/>
          </a:xfrm>
          <a:prstGeom prst="roundRect">
            <a:avLst>
              <a:gd name="adj" fmla="val 6742"/>
            </a:avLst>
          </a:prstGeom>
          <a:solidFill>
            <a:srgbClr val="1A2740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148840"/>
            <a:ext cx="290565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spc="-16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822960" y="2935224"/>
            <a:ext cx="29056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mikroxizmati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68698" y="1874520"/>
            <a:ext cx="3454298" cy="1627632"/>
          </a:xfrm>
          <a:prstGeom prst="roundRect">
            <a:avLst>
              <a:gd name="adj" fmla="val 6742"/>
            </a:avLst>
          </a:prstGeom>
          <a:solidFill>
            <a:srgbClr val="1A2740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43018" y="2148840"/>
            <a:ext cx="290565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spc="-16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169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4643018" y="2935224"/>
            <a:ext cx="29056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endpoint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88757" y="1874520"/>
            <a:ext cx="3454298" cy="1627632"/>
          </a:xfrm>
          <a:prstGeom prst="roundRect">
            <a:avLst>
              <a:gd name="adj" fmla="val 6742"/>
            </a:avLst>
          </a:prstGeom>
          <a:solidFill>
            <a:srgbClr val="1A2740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63077" y="2148840"/>
            <a:ext cx="290565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spc="-16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259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8463077" y="2935224"/>
            <a:ext cx="29056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avtomatik test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721608"/>
            <a:ext cx="3454298" cy="1627632"/>
          </a:xfrm>
          <a:prstGeom prst="roundRect">
            <a:avLst>
              <a:gd name="adj" fmla="val 6742"/>
            </a:avLst>
          </a:prstGeom>
          <a:solidFill>
            <a:srgbClr val="1A2740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995928"/>
            <a:ext cx="290565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spc="-16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4600" dirty="0"/>
          </a:p>
        </p:txBody>
      </p:sp>
      <p:sp>
        <p:nvSpPr>
          <p:cNvPr id="15" name="Text 13"/>
          <p:cNvSpPr/>
          <p:nvPr/>
        </p:nvSpPr>
        <p:spPr>
          <a:xfrm>
            <a:off x="822960" y="4782312"/>
            <a:ext cx="29056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baza migratsiyasi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368698" y="3721608"/>
            <a:ext cx="3454298" cy="1627632"/>
          </a:xfrm>
          <a:prstGeom prst="roundRect">
            <a:avLst>
              <a:gd name="adj" fmla="val 6742"/>
            </a:avLst>
          </a:prstGeom>
          <a:solidFill>
            <a:srgbClr val="1A2740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43018" y="3995928"/>
            <a:ext cx="290565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spc="-16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65k</a:t>
            </a:r>
            <a:endParaRPr lang="en-US" sz="4600" dirty="0"/>
          </a:p>
        </p:txBody>
      </p:sp>
      <p:sp>
        <p:nvSpPr>
          <p:cNvPr id="18" name="Text 16"/>
          <p:cNvSpPr/>
          <p:nvPr/>
        </p:nvSpPr>
        <p:spPr>
          <a:xfrm>
            <a:off x="4643018" y="4782312"/>
            <a:ext cx="29056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qator kod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88757" y="3721608"/>
            <a:ext cx="3454298" cy="1627632"/>
          </a:xfrm>
          <a:prstGeom prst="roundRect">
            <a:avLst>
              <a:gd name="adj" fmla="val 6742"/>
            </a:avLst>
          </a:prstGeom>
          <a:solidFill>
            <a:srgbClr val="1A2740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63077" y="3995928"/>
            <a:ext cx="290565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spc="-16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4600" dirty="0"/>
          </a:p>
        </p:txBody>
      </p:sp>
      <p:sp>
        <p:nvSpPr>
          <p:cNvPr id="21" name="Text 19"/>
          <p:cNvSpPr/>
          <p:nvPr/>
        </p:nvSpPr>
        <p:spPr>
          <a:xfrm>
            <a:off x="8463077" y="4782312"/>
            <a:ext cx="29056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hisobot turi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48640" y="5541264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O‘nta repozitoriy, umumiy protobuf shartnomasi va bitta buyruq bilan joylashtirish — stek allaqachon to‘liq ishlab turibdi.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ISHONCH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91153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Xavfsizlik sozlama emas, konstruksiyaning o‘zi.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5349240" cy="1298448"/>
          </a:xfrm>
          <a:prstGeom prst="roundRect">
            <a:avLst>
              <a:gd name="adj" fmla="val 7042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847088"/>
            <a:ext cx="219456" cy="219456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6" name="Text 4"/>
          <p:cNvSpPr/>
          <p:nvPr/>
        </p:nvSpPr>
        <p:spPr>
          <a:xfrm>
            <a:off x="1170432" y="1792224"/>
            <a:ext cx="4471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Xizmat chegarasida ajratish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1170432" y="2139696"/>
            <a:ext cx="44714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 bir xizmat servis mansubligini tokendan oladi. Oltita alohida baza, ular orasida so‘rov yo‘q.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91072" y="1572768"/>
            <a:ext cx="5349240" cy="1298448"/>
          </a:xfrm>
          <a:prstGeom prst="roundRect">
            <a:avLst>
              <a:gd name="adj" fmla="val 7042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47104" y="1847088"/>
            <a:ext cx="219456" cy="219456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10" name="Text 8"/>
          <p:cNvSpPr/>
          <p:nvPr/>
        </p:nvSpPr>
        <p:spPr>
          <a:xfrm>
            <a:off x="6912864" y="1792224"/>
            <a:ext cx="4471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Servis o‘zi belgilaydigan rollar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912864" y="2139696"/>
            <a:ext cx="44714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Hech qachon to‘g‘ri kelmaydigan uchta qat’iy rol o‘rniga huquqlar matritsasi bilan ixtiyoriy rollar.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3054096"/>
            <a:ext cx="5349240" cy="1298448"/>
          </a:xfrm>
          <a:prstGeom prst="roundRect">
            <a:avLst>
              <a:gd name="adj" fmla="val 7042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4672" y="3328416"/>
            <a:ext cx="219456" cy="219456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14" name="Text 12"/>
          <p:cNvSpPr/>
          <p:nvPr/>
        </p:nvSpPr>
        <p:spPr>
          <a:xfrm>
            <a:off x="1170432" y="3273552"/>
            <a:ext cx="4471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Usta pulni ko‘rmaydi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170432" y="3621024"/>
            <a:ext cx="44714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Tannarx, ustama va foydani API bermaydi — bu uslub bilan yashirilgan emas, u yerda umuman yo‘q.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91072" y="3054096"/>
            <a:ext cx="5349240" cy="1298448"/>
          </a:xfrm>
          <a:prstGeom prst="roundRect">
            <a:avLst>
              <a:gd name="adj" fmla="val 7042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47104" y="3328416"/>
            <a:ext cx="219456" cy="219456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18" name="Text 16"/>
          <p:cNvSpPr/>
          <p:nvPr/>
        </p:nvSpPr>
        <p:spPr>
          <a:xfrm>
            <a:off x="6912864" y="3273552"/>
            <a:ext cx="4471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Topib bo‘lmaydigan havolalar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912864" y="3621024"/>
            <a:ext cx="44714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Hisob-fakturalar va tasdiqlash havolalarida tasodifiy token, tartib raqami emas.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4535424"/>
            <a:ext cx="5349240" cy="1298448"/>
          </a:xfrm>
          <a:prstGeom prst="roundRect">
            <a:avLst>
              <a:gd name="adj" fmla="val 7042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672" y="4809744"/>
            <a:ext cx="219456" cy="219456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22" name="Text 20"/>
          <p:cNvSpPr/>
          <p:nvPr/>
        </p:nvSpPr>
        <p:spPr>
          <a:xfrm>
            <a:off x="1170432" y="4754880"/>
            <a:ext cx="4471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Faqat o‘qiydigan tahlil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170432" y="5102352"/>
            <a:ext cx="44714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va MCP birorta yozuvni jismonan o‘zgartira olmaydi.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91072" y="4535424"/>
            <a:ext cx="5349240" cy="1298448"/>
          </a:xfrm>
          <a:prstGeom prst="roundRect">
            <a:avLst>
              <a:gd name="adj" fmla="val 7042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47104" y="4809744"/>
            <a:ext cx="219456" cy="219456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26" name="Text 24"/>
          <p:cNvSpPr/>
          <p:nvPr/>
        </p:nvSpPr>
        <p:spPr>
          <a:xfrm>
            <a:off x="6912864" y="4754880"/>
            <a:ext cx="4471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 harakati auditi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912864" y="5102352"/>
            <a:ext cx="44714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jurnali pulni harakatlantiradigan yoki chekni bekor qiladigan amallarni qamrab oladi.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BOZOR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91153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Avtopark servislardan tez o‘smoqda.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26464"/>
            <a:ext cx="3484778" cy="1133856"/>
          </a:xfrm>
          <a:prstGeom prst="roundRect">
            <a:avLst>
              <a:gd name="adj" fmla="val 9677"/>
            </a:avLst>
          </a:prstGeom>
          <a:solidFill>
            <a:srgbClr val="0E1729"/>
          </a:solidFill>
          <a:ln/>
        </p:spPr>
      </p:sp>
      <p:sp>
        <p:nvSpPr>
          <p:cNvPr id="5" name="Text 3"/>
          <p:cNvSpPr/>
          <p:nvPr/>
        </p:nvSpPr>
        <p:spPr>
          <a:xfrm>
            <a:off x="786384" y="1536192"/>
            <a:ext cx="300929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8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4,73 mln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86384" y="2066544"/>
            <a:ext cx="300929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O‘zbekiston aholisidagi avtomobil (2025-yil okt.)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53458" y="1426464"/>
            <a:ext cx="3484778" cy="1133856"/>
          </a:xfrm>
          <a:prstGeom prst="roundRect">
            <a:avLst>
              <a:gd name="adj" fmla="val 9677"/>
            </a:avLst>
          </a:prstGeom>
          <a:solidFill>
            <a:srgbClr val="0E1729"/>
          </a:solidFill>
          <a:ln/>
        </p:spPr>
      </p:sp>
      <p:sp>
        <p:nvSpPr>
          <p:cNvPr id="8" name="Text 6"/>
          <p:cNvSpPr/>
          <p:nvPr/>
        </p:nvSpPr>
        <p:spPr>
          <a:xfrm>
            <a:off x="4591202" y="1536192"/>
            <a:ext cx="300929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8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+415 ming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591202" y="2066544"/>
            <a:ext cx="300929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o‘n ikki oyda qo‘shilgan avtomobil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158277" y="1426464"/>
            <a:ext cx="3484778" cy="1133856"/>
          </a:xfrm>
          <a:prstGeom prst="roundRect">
            <a:avLst>
              <a:gd name="adj" fmla="val 9677"/>
            </a:avLst>
          </a:prstGeom>
          <a:solidFill>
            <a:srgbClr val="0E1729"/>
          </a:solidFill>
          <a:ln/>
        </p:spPr>
      </p:sp>
      <p:sp>
        <p:nvSpPr>
          <p:cNvPr id="11" name="Text 9"/>
          <p:cNvSpPr/>
          <p:nvPr/>
        </p:nvSpPr>
        <p:spPr>
          <a:xfrm>
            <a:off x="8396021" y="1536192"/>
            <a:ext cx="300929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8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92,9%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396021" y="2066544"/>
            <a:ext cx="300929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avtoparkning yengil avtomobillar ulushi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761488"/>
            <a:ext cx="5349240" cy="1773936"/>
          </a:xfrm>
          <a:prstGeom prst="roundRect">
            <a:avLst>
              <a:gd name="adj" fmla="val 5155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2926080"/>
            <a:ext cx="4800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Xizmat ko‘rsatiladigan baza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2960" y="3291840"/>
            <a:ext cx="48006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Tijorat ma’lumotnomalarida 2,030 ta avtoservis va 830 ta ehtiyot qism do‘koni qayd etilgan. Haqiqiy bozor sezilarli darajada kattaroq va asosan norasmiy — aynan shu qatlamda hech qachon dasturiy ta’minot bo‘lmagan.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91072" y="2761488"/>
            <a:ext cx="5349240" cy="1773936"/>
          </a:xfrm>
          <a:prstGeom prst="roundRect">
            <a:avLst>
              <a:gd name="adj" fmla="val 5155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65392" y="2926080"/>
            <a:ext cx="4800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2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Chet bozorga chiqish allaqachon tayyor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65392" y="3291840"/>
            <a:ext cx="48006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MDHning to‘qqizta raqam formati, uchta interfeys tili va har bir servis uchun ko‘p valyuta mahsulotda bor. Qozog‘iston, Qirg‘iziston yoki Tojikistonga chiqish — sotuv masalasi, tizimni qayta yozish emas.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736592"/>
            <a:ext cx="11094415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736592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 / SAM / SOM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566160" y="4736592"/>
            <a:ext cx="78025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O‘z narxingiz va erishish mumkin bo‘lgan servislar soni asosida to‘ldiriladi.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5705856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Manbalar: O‘zbekiston Respublikasi Prezidenti huzuridagi Statistika agentligi (stat.uz), 2025-yil okt.; tijorat biznes-ma’lumotnomalari, 2026-yil.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BIZNES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91153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 bir servisga obuna — servis hajmiga qarab.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3484778" cy="274320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65376"/>
            <a:ext cx="220461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spc="-4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22960" y="2468880"/>
            <a:ext cx="293613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Bitta filial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Uchtagacha usta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Buyurtmalar va mijozlar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Fiskal cheklar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353458" y="1627632"/>
            <a:ext cx="3484778" cy="2743200"/>
          </a:xfrm>
          <a:prstGeom prst="roundRect">
            <a:avLst>
              <a:gd name="adj" fmla="val 4000"/>
            </a:avLst>
          </a:prstGeom>
          <a:solidFill>
            <a:srgbClr val="0E1729"/>
          </a:solidFill>
          <a:ln/>
        </p:spPr>
      </p:sp>
      <p:sp>
        <p:nvSpPr>
          <p:cNvPr id="8" name="Shape 6"/>
          <p:cNvSpPr/>
          <p:nvPr/>
        </p:nvSpPr>
        <p:spPr>
          <a:xfrm>
            <a:off x="6497726" y="1883664"/>
            <a:ext cx="1084478" cy="274320"/>
          </a:xfrm>
          <a:prstGeom prst="roundRect">
            <a:avLst>
              <a:gd name="adj" fmla="val 50000"/>
            </a:avLst>
          </a:prstGeom>
          <a:solidFill>
            <a:srgbClr val="FFB020"/>
          </a:solidFill>
          <a:ln/>
        </p:spPr>
      </p:sp>
      <p:sp>
        <p:nvSpPr>
          <p:cNvPr id="9" name="Text 7"/>
          <p:cNvSpPr/>
          <p:nvPr/>
        </p:nvSpPr>
        <p:spPr>
          <a:xfrm>
            <a:off x="6497726" y="1883664"/>
            <a:ext cx="10844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Ommabop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627778" y="1865376"/>
            <a:ext cx="220461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Biznes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4627778" y="2468880"/>
            <a:ext cx="293613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Cheklanmagan ustalar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 bot va eslatmalar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Moliya va foyda hisoboti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yordamchi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58277" y="1627632"/>
            <a:ext cx="3484778" cy="274320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32597" y="1865376"/>
            <a:ext cx="220461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spc="-4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Tarmoq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8432597" y="2468880"/>
            <a:ext cx="293613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nechta filial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Yagona nazorat paneli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integratsiyalar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Ustuvor qo‘llab-quvvatlash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459028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Tushum mijoz bilan birga o‘sadi: ko‘proq usta, ko‘proq filial, AI tarifi va tarmoqlar uchun individual integratsiyalar.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175504"/>
            <a:ext cx="11094415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175504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To‘ldiriladi: tariflar narxi · ARPU · yalpi marja · CAC va qoplanish muddati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NATIJALAR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91153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Bugungi holat.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raqamlar mahsulotning o‘zidan olinadi — unda arizalar va demo so‘rovlari CRM’i bor, shuning uchun voronka taxmin qilinmaydi, o‘lchanadi.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139696"/>
            <a:ext cx="3484778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2340864"/>
            <a:ext cx="297271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Platformadagi avtoservislar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04672" y="2889504"/>
            <a:ext cx="29727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7E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4353458" y="2139696"/>
            <a:ext cx="3484778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09490" y="2340864"/>
            <a:ext cx="297271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Tizimdagi avtomobillar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609490" y="2889504"/>
            <a:ext cx="29727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7E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8158277" y="2139696"/>
            <a:ext cx="3484778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4309" y="2340864"/>
            <a:ext cx="297271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Yopilgan buyurtmalar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414309" y="2889504"/>
            <a:ext cx="29727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7E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548640" y="3840480"/>
            <a:ext cx="3484778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672" y="4041648"/>
            <a:ext cx="297271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Oylik takroriy tushum (MRR)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04672" y="4590288"/>
            <a:ext cx="29727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7E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4353458" y="3840480"/>
            <a:ext cx="3484778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09490" y="4041648"/>
            <a:ext cx="297271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Oydan oyga o‘sish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609490" y="4590288"/>
            <a:ext cx="29727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7E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8158277" y="3840480"/>
            <a:ext cx="3484778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14309" y="4041648"/>
            <a:ext cx="297271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Voronkadagi demo so‘rovlari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414309" y="4590288"/>
            <a:ext cx="29727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7E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3000" dirty="0"/>
          </a:p>
        </p:txBody>
      </p:sp>
      <p:sp>
        <p:nvSpPr>
          <p:cNvPr id="23" name="Shape 21"/>
          <p:cNvSpPr/>
          <p:nvPr/>
        </p:nvSpPr>
        <p:spPr>
          <a:xfrm>
            <a:off x="548640" y="5394960"/>
            <a:ext cx="11094415" cy="694944"/>
          </a:xfrm>
          <a:prstGeom prst="roundRect">
            <a:avLst>
              <a:gd name="adj" fmla="val 13158"/>
            </a:avLst>
          </a:prstGeom>
          <a:solidFill>
            <a:srgbClr val="0E1729"/>
          </a:solidFill>
          <a:ln/>
        </p:spPr>
      </p:sp>
      <p:sp>
        <p:nvSpPr>
          <p:cNvPr id="24" name="Shape 22"/>
          <p:cNvSpPr/>
          <p:nvPr/>
        </p:nvSpPr>
        <p:spPr>
          <a:xfrm>
            <a:off x="822960" y="5650992"/>
            <a:ext cx="182880" cy="182880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25" name="Text 23"/>
          <p:cNvSpPr/>
          <p:nvPr/>
        </p:nvSpPr>
        <p:spPr>
          <a:xfrm>
            <a:off x="1115568" y="5394960"/>
            <a:ext cx="1027145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Taqdimotdan oldin to‘ldiring — hakamlar va investor tekshiradigan yagona raqamlar shular.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YO‘L XARITASI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91153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Investitsiya nima beradi.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3484778" cy="4023360"/>
          </a:xfrm>
          <a:prstGeom prst="roundRect">
            <a:avLst>
              <a:gd name="adj" fmla="val 3149"/>
            </a:avLst>
          </a:prstGeom>
          <a:solidFill>
            <a:srgbClr val="0E1729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847088"/>
            <a:ext cx="365760" cy="365760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47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280160" y="1828800"/>
            <a:ext cx="247893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Hozir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487168"/>
            <a:ext cx="2936138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Hozirgi vaqtinchalik yechim o‘rniga jonli OFD fiskalizatsiyasi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Click, Payme va Uzum orqali to‘lov qabul qilish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Birinchi to‘lovchi servislar guruhini ulash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53458" y="1572768"/>
            <a:ext cx="3484778" cy="4023360"/>
          </a:xfrm>
          <a:prstGeom prst="roundRect">
            <a:avLst>
              <a:gd name="adj" fmla="val 3149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27778" y="1847088"/>
            <a:ext cx="365760" cy="365760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11" name="Text 9"/>
          <p:cNvSpPr/>
          <p:nvPr/>
        </p:nvSpPr>
        <p:spPr>
          <a:xfrm>
            <a:off x="4627778" y="1847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84978" y="1828800"/>
            <a:ext cx="247893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3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Keyin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27778" y="2487168"/>
            <a:ext cx="2936138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Ustalar uchun iOS va Android ilovalari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Filiallar bo‘yicha yig‘ma hisobot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Ombor ichida ehtiyot qism yetkazib beruvchilar marketplace’i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58277" y="1572768"/>
            <a:ext cx="3484778" cy="4023360"/>
          </a:xfrm>
          <a:prstGeom prst="roundRect">
            <a:avLst>
              <a:gd name="adj" fmla="val 3149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32597" y="1847088"/>
            <a:ext cx="365760" cy="365760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16" name="Text 14"/>
          <p:cNvSpPr/>
          <p:nvPr/>
        </p:nvSpPr>
        <p:spPr>
          <a:xfrm>
            <a:off x="8432597" y="1847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89797" y="1828800"/>
            <a:ext cx="247893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3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Kelgusida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32597" y="2487168"/>
            <a:ext cx="2936138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Servis tarixiga asoslangan bashoratli texnik ko‘rik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Sug‘urta va korporativ avtopark shartnomalari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MDH bozorlariga chiqish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JAMOA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91153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Buni kim quryapti.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755648"/>
            <a:ext cx="3484778" cy="3200400"/>
          </a:xfrm>
          <a:prstGeom prst="roundRect">
            <a:avLst>
              <a:gd name="adj" fmla="val 3429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88109" y="2139696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B02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3346704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Ta’sischi / CEO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05840" y="3877056"/>
            <a:ext cx="2570378" cy="10973"/>
          </a:xfrm>
          <a:prstGeom prst="rect">
            <a:avLst/>
          </a:prstGeom>
          <a:solidFill>
            <a:srgbClr val="E7ECF7"/>
          </a:solidFill>
          <a:ln/>
        </p:spPr>
      </p:sp>
      <p:sp>
        <p:nvSpPr>
          <p:cNvPr id="8" name="Shape 6"/>
          <p:cNvSpPr/>
          <p:nvPr/>
        </p:nvSpPr>
        <p:spPr>
          <a:xfrm>
            <a:off x="1005840" y="4206240"/>
            <a:ext cx="2570378" cy="10973"/>
          </a:xfrm>
          <a:prstGeom prst="rect">
            <a:avLst/>
          </a:prstGeom>
          <a:solidFill>
            <a:srgbClr val="E7ECF7"/>
          </a:solidFill>
          <a:ln/>
        </p:spPr>
      </p:sp>
      <p:sp>
        <p:nvSpPr>
          <p:cNvPr id="9" name="Shape 7"/>
          <p:cNvSpPr/>
          <p:nvPr/>
        </p:nvSpPr>
        <p:spPr>
          <a:xfrm>
            <a:off x="1005840" y="4535424"/>
            <a:ext cx="2570378" cy="10973"/>
          </a:xfrm>
          <a:prstGeom prst="rect">
            <a:avLst/>
          </a:prstGeom>
          <a:solidFill>
            <a:srgbClr val="E7ECF7"/>
          </a:solidFill>
          <a:ln/>
        </p:spPr>
      </p:sp>
      <p:sp>
        <p:nvSpPr>
          <p:cNvPr id="10" name="Shape 8"/>
          <p:cNvSpPr/>
          <p:nvPr/>
        </p:nvSpPr>
        <p:spPr>
          <a:xfrm>
            <a:off x="4353458" y="1755648"/>
            <a:ext cx="3484778" cy="3200400"/>
          </a:xfrm>
          <a:prstGeom prst="roundRect">
            <a:avLst>
              <a:gd name="adj" fmla="val 3429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592928" y="2139696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B02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27778" y="3346704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Dasturlash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810658" y="3877056"/>
            <a:ext cx="2570378" cy="10973"/>
          </a:xfrm>
          <a:prstGeom prst="rect">
            <a:avLst/>
          </a:prstGeom>
          <a:solidFill>
            <a:srgbClr val="E7ECF7"/>
          </a:solidFill>
          <a:ln/>
        </p:spPr>
      </p:sp>
      <p:sp>
        <p:nvSpPr>
          <p:cNvPr id="14" name="Shape 12"/>
          <p:cNvSpPr/>
          <p:nvPr/>
        </p:nvSpPr>
        <p:spPr>
          <a:xfrm>
            <a:off x="4810658" y="4206240"/>
            <a:ext cx="2570378" cy="10973"/>
          </a:xfrm>
          <a:prstGeom prst="rect">
            <a:avLst/>
          </a:prstGeom>
          <a:solidFill>
            <a:srgbClr val="E7ECF7"/>
          </a:solidFill>
          <a:ln/>
        </p:spPr>
      </p:sp>
      <p:sp>
        <p:nvSpPr>
          <p:cNvPr id="15" name="Shape 13"/>
          <p:cNvSpPr/>
          <p:nvPr/>
        </p:nvSpPr>
        <p:spPr>
          <a:xfrm>
            <a:off x="4810658" y="4535424"/>
            <a:ext cx="2570378" cy="10973"/>
          </a:xfrm>
          <a:prstGeom prst="rect">
            <a:avLst/>
          </a:prstGeom>
          <a:solidFill>
            <a:srgbClr val="E7ECF7"/>
          </a:solidFill>
          <a:ln/>
        </p:spPr>
      </p:sp>
      <p:sp>
        <p:nvSpPr>
          <p:cNvPr id="16" name="Shape 14"/>
          <p:cNvSpPr/>
          <p:nvPr/>
        </p:nvSpPr>
        <p:spPr>
          <a:xfrm>
            <a:off x="8158277" y="1755648"/>
            <a:ext cx="3484778" cy="3200400"/>
          </a:xfrm>
          <a:prstGeom prst="roundRect">
            <a:avLst>
              <a:gd name="adj" fmla="val 3429"/>
            </a:avLst>
          </a:prstGeom>
          <a:solidFill>
            <a:srgbClr val="F4F6FB"/>
          </a:solidFill>
          <a:ln w="12700">
            <a:solidFill>
              <a:srgbClr val="E7ECF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97746" y="2139696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B02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32597" y="3346704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7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Tijorat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15477" y="3877056"/>
            <a:ext cx="2570378" cy="10973"/>
          </a:xfrm>
          <a:prstGeom prst="rect">
            <a:avLst/>
          </a:prstGeom>
          <a:solidFill>
            <a:srgbClr val="E7ECF7"/>
          </a:solidFill>
          <a:ln/>
        </p:spPr>
      </p:sp>
      <p:sp>
        <p:nvSpPr>
          <p:cNvPr id="20" name="Shape 18"/>
          <p:cNvSpPr/>
          <p:nvPr/>
        </p:nvSpPr>
        <p:spPr>
          <a:xfrm>
            <a:off x="8615477" y="4206240"/>
            <a:ext cx="2570378" cy="10973"/>
          </a:xfrm>
          <a:prstGeom prst="rect">
            <a:avLst/>
          </a:prstGeom>
          <a:solidFill>
            <a:srgbClr val="E7ECF7"/>
          </a:solidFill>
          <a:ln/>
        </p:spPr>
      </p:sp>
      <p:sp>
        <p:nvSpPr>
          <p:cNvPr id="21" name="Shape 19"/>
          <p:cNvSpPr/>
          <p:nvPr/>
        </p:nvSpPr>
        <p:spPr>
          <a:xfrm>
            <a:off x="8615477" y="4535424"/>
            <a:ext cx="2570378" cy="10973"/>
          </a:xfrm>
          <a:prstGeom prst="rect">
            <a:avLst/>
          </a:prstGeom>
          <a:solidFill>
            <a:srgbClr val="E7ECF7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5230368"/>
            <a:ext cx="11094415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5230368"/>
            <a:ext cx="1054577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 biri uchun qo‘shing: ism, rol va nega aynan u mos ekani haqida bir qator.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58200" y="594360"/>
            <a:ext cx="3383280" cy="3383280"/>
          </a:xfrm>
          <a:prstGeom prst="ellipse">
            <a:avLst/>
          </a:prstGeom>
          <a:ln w="19050">
            <a:solidFill>
              <a:srgbClr val="2436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033358" y="1169518"/>
            <a:ext cx="2232965" cy="2232965"/>
          </a:xfrm>
          <a:prstGeom prst="ellipse">
            <a:avLst/>
          </a:prstGeom>
          <a:ln w="19050">
            <a:solidFill>
              <a:srgbClr val="3563E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42348" y="1778508"/>
            <a:ext cx="1014984" cy="1014984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71600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spc="-11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Tizim qurildi.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48640" y="2066544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spc="-11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Endi — miqyos.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2980944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O‘nta repozitoriy, yettita xizmat va ishlayotgan mahsulot. Uni mamlakatdagi har bir servisga olib kirish uchun kapital va hamkorlar izlayapmiz.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315968"/>
            <a:ext cx="5349240" cy="1207008"/>
          </a:xfrm>
          <a:prstGeom prst="roundRect">
            <a:avLst>
              <a:gd name="adj" fmla="val 9091"/>
            </a:avLst>
          </a:prstGeom>
          <a:solidFill>
            <a:srgbClr val="1A2740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4553712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SO‘ROV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41248" y="4901184"/>
            <a:ext cx="4764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 · nimaga · qaysi bosqichni yopadi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91072" y="4315968"/>
            <a:ext cx="5349240" cy="1207008"/>
          </a:xfrm>
          <a:prstGeom prst="roundRect">
            <a:avLst>
              <a:gd name="adj" fmla="val 9091"/>
            </a:avLst>
          </a:prstGeom>
          <a:solidFill>
            <a:srgbClr val="1A2740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0" y="4553712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FFB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ALOQA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583680" y="4901184"/>
            <a:ext cx="4764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94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Ism · telefon · e-mail · sayt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6089904"/>
            <a:ext cx="237744" cy="237744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15" name="Text 13"/>
          <p:cNvSpPr/>
          <p:nvPr/>
        </p:nvSpPr>
        <p:spPr>
          <a:xfrm>
            <a:off x="896112" y="6035040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AvtoNazorat · Auto-Garaj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AvtoNazorat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AvtoNazorat — Avtoservis uchun raqamli boshqaruv</dc:title>
  <dc:subject>PptxGenJS Presentation</dc:subject>
  <dc:creator>AvtoNazorat</dc:creator>
  <cp:lastModifiedBy>AvtoNazorat</cp:lastModifiedBy>
  <cp:revision>1</cp:revision>
  <dcterms:created xsi:type="dcterms:W3CDTF">2026-08-25T03:40:39Z</dcterms:created>
  <dcterms:modified xsi:type="dcterms:W3CDTF">2026-08-25T03:40:39Z</dcterms:modified>
</cp:coreProperties>
</file>