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Цифровое управление автосервисом. Заказы, клиенты, склад, финансы и фискальные чеки — одна платформа, созданная для Узбекистана и стран СНГ.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Рынок из 4,7 млн машин до сих пор живёт на бумаге.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Машина приехала, заказ открылся, клиент согласовал смету в Telegram, мастера ведут работу с телефона, запчасти списались со склада, выписан фискальный чек — и деньги сами встали в учёт.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этапов, и каждый — статус, который видит весь сервис. Ничего не переписывается вручную и ничего не держится в голове.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входа, одна система.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Спросите «какая прибыль в этом месяце?» обычным языком — по-узбекски, по-русски или по-английски. Ответ придёт с реальными таблицами и кнопками, которые открывают нужный экран.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Сделано для Узбекистана, а не переведено на узбекский.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Контракты на protobuf, семь сервисов на Go за одним шлюзом и развёртывание, которое обновляет себя само.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Десять репозиториев, общий protobuf-контракт и развёртывание одной командой, на котором стек уже работает целиком.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Безопасность заложена в конструкцию.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Агентство статистики при Президенте Республики Узбекистан (stat.uz), окт. 2025; данные коммерческих бизнес-справочников,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Выручка растёт вместе с клиентом: больше мастеров, больше филиалов, тариф с AI и индивидуальные интеграции для сетей.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Заполните до выступления — только эти цифры жюри и инвестор будут проверять.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даст инвестиция.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Добавьте по каждому: имя, роль и одну строку о том, почему именно он подходит.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построена. Дальше — масштаб. — Десять репозиториев, семь сервисов и работающий продукт. Ищем капитал и партнёров, чтобы поставить его в каждый автосервис страны.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1508760"/>
            <a:ext cx="4114800" cy="4114800"/>
          </a:xfrm>
          <a:prstGeom prst="ellipse">
            <a:avLst/>
          </a:prstGeom>
          <a:ln w="19050">
            <a:solidFill>
              <a:srgbClr val="243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43316" y="2208276"/>
            <a:ext cx="2715768" cy="2715768"/>
          </a:xfrm>
          <a:prstGeom prst="ellipse">
            <a:avLst/>
          </a:prstGeom>
          <a:ln w="19050">
            <a:solidFill>
              <a:srgbClr val="3563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83980" y="2948940"/>
            <a:ext cx="1234440" cy="1234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48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AvtoNazorat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859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Auto-Garaj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Цифровое управление автосервисом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автосервис 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2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одном экране.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Заказы, клиенты, склад, финансы и фискальные чеки — одна платформа, созданная для Узбекистана и стран СНГ.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513332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29200"/>
            <a:ext cx="15133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AI-помощник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08276" y="5029200"/>
            <a:ext cx="1129284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8276" y="5029200"/>
            <a:ext cx="1129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языка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83864" y="5029200"/>
            <a:ext cx="2473452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864" y="5029200"/>
            <a:ext cx="247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форматов госномеров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03620" y="5029200"/>
            <a:ext cx="2281428" cy="384048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3620" y="5029200"/>
            <a:ext cx="2281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Telegram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Tech Award · Презентация для инвесторов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из 4,7 млн машин до сих пор живёт на бумаге.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73936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16736" y="17556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Тетрадь вместо системы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2103120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Заказы, согласованные цены и долги клиентов лежат в бумажной тетради или в переписке. Ничего нельзя найти, проверить или передать новому сотруднику.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91072" y="15361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773936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654710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59168" y="17556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 работает вслепую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9168" y="2103120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ответит на вопрос «сколько я заработал за месяц и на каких услугах», не пересчитав кассу вручную в конце дня.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74136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16736" y="33558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остаётся в неведении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16736" y="3703320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Смету не согласовать, статус машины неизвестен, чека нет. Доверие приходится выстраивать заново при каждом визите.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91072" y="313639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374136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104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59168" y="33558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Фискальная нагрузка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9168" y="3703320"/>
            <a:ext cx="4306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 выписывается с опозданием, заполняется вручную или не выписывается вовсе — а риск несёт сервис.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0E172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38344"/>
            <a:ext cx="369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4,73 млн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31520" y="5495544"/>
            <a:ext cx="333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автомобилей у населения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46778" y="5038344"/>
            <a:ext cx="369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+415 тыс.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429658" y="5495544"/>
            <a:ext cx="333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прибавилось за год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44917" y="5038344"/>
            <a:ext cx="369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2 030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127797" y="5495544"/>
            <a:ext cx="333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автосервисов в справочниках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платформа. Весь сервис.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 приехала, заказ открылся, клиент согласовал смету в Telegram, мастера ведут работу с телефона, запчасти списались со склада, выписан фискальный чек — и деньги сами встали в учёт.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24912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670048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Заказ-наряды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3035808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из 8 статусов, мастер на каждую позицию и учёт времени.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3458" y="2487168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1202" y="2724912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4883810" y="2670048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 и авто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1202" y="3035808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госномеру, полная история машины и сервисная книжка.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8277" y="2487168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6021" y="2724912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8629" y="2670048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96021" y="3035808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 с вариантами, движения остатков, продажи и общий каталог.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4315968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4261104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4626864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Мультивалютность, лицевые счета клиентов и поставщиков, расходы и P&amp;L.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53458" y="4078224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1202" y="4315968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3" name="Text 21"/>
          <p:cNvSpPr/>
          <p:nvPr/>
        </p:nvSpPr>
        <p:spPr>
          <a:xfrm>
            <a:off x="4883810" y="4261104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Фискальные чеки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1202" y="4626864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Узбекский чек: СТИР, позиции, скидка, QR и номер чека ОФД.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58277" y="4078224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6021" y="4315968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8629" y="4261104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AI-помощник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96021" y="4626864"/>
            <a:ext cx="30092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инструментов только на чтение — обычным языком.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движется сам.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этапов, и каждый — статус, который видит весь сервис. Ничего не переписывается вручную и ничего не держится в голове.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35915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340864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2743200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Госномер набран или найден за секунду. Машина, владелец и пробег подтягиваются сами.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3458" y="2139696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1202" y="235915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1202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8402" y="2340864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Смета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1202" y="2743200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Услуги и запчасти берутся из прайса; согласованная скидка фиксируется, а не прячется.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58277" y="2139696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6021" y="235915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96021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53221" y="2340864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6021" y="2743200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подтверждает или отклоняет в Telegram либо по защищённой ссылке. Приложение не нужно.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04164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3584" y="4023360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86384" y="4425696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позиция закреплена за мастером, который ведёт её с телефона. Таймер считает реальное время.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53458" y="3822192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1202" y="404164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/>
          <p:nvPr/>
        </p:nvSpPr>
        <p:spPr>
          <a:xfrm>
            <a:off x="459120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48402" y="4023360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91202" y="4425696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получает уведомление сразу, как машина готова. Запчасти списываются со склада автоматически.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58277" y="3822192"/>
            <a:ext cx="3484778" cy="1481328"/>
          </a:xfrm>
          <a:prstGeom prst="roundRect">
            <a:avLst>
              <a:gd name="adj" fmla="val 6173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6021" y="404164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2" name="Text 30"/>
          <p:cNvSpPr/>
          <p:nvPr/>
        </p:nvSpPr>
        <p:spPr>
          <a:xfrm>
            <a:off x="8396021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53221" y="4023360"/>
            <a:ext cx="25886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 и закрытие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96021" y="4425696"/>
            <a:ext cx="30092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Выписан фискальный чек, учтена оплата (в том числе частями или в долг), выручка проведена, назначено напоминание.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0E1729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5751576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7" name="Text 35"/>
          <p:cNvSpPr/>
          <p:nvPr/>
        </p:nvSpPr>
        <p:spPr>
          <a:xfrm>
            <a:off x="1115568" y="5577840"/>
            <a:ext cx="102714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планировщик работает сам: напоминания о ТО по сроку и напоминания о записи за 24 часа.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входа, одна система.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568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владельца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5464" y="1975104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4855464" y="197510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414016"/>
            <a:ext cx="4764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сводка, доска заказов, склад, финансы и девять видов отчётов. Всё, что должен видеть тот, кто несёт риск.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91072" y="1719072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568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мастера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232136" y="1975104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10232136" y="197510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2414016"/>
            <a:ext cx="4764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свои работы, статус в два нажатия. Себестоимость, наценка и прибыль на этот экран не выдаются вовсе.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8404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98264" y="385876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4398264" y="38587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4297680"/>
            <a:ext cx="4764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смету, следить за работой, получить «машина готова», хранить историю. Ставить нечего.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91072" y="3602736"/>
            <a:ext cx="5349240" cy="1627632"/>
          </a:xfrm>
          <a:prstGeom prst="roundRect">
            <a:avLst>
              <a:gd name="adj" fmla="val 5618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8404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Админ-панель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49256" y="3858768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49256" y="385876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297680"/>
            <a:ext cx="4764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всеми сервисами: общий каталог товаров, интеграции, заявки и сводная аналитика по платформе.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Говорите со своими данными.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Спросите «какая прибыль в этом месяце?» обычным языком — по-узбекски, по-русски или по-английски. Ответ придёт с реальными таблицами и кнопками, которые открывают нужный экран.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04288"/>
            <a:ext cx="5349240" cy="3785616"/>
          </a:xfrm>
          <a:prstGeom prst="roundRect">
            <a:avLst>
              <a:gd name="adj" fmla="val 2899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633472"/>
            <a:ext cx="3657600" cy="475488"/>
          </a:xfrm>
          <a:prstGeom prst="roundRect">
            <a:avLst>
              <a:gd name="adj" fmla="val 30769"/>
            </a:avLst>
          </a:prstGeom>
          <a:solidFill>
            <a:srgbClr val="24365A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63347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прибыль в этом месяце?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328416"/>
            <a:ext cx="4709160" cy="1517904"/>
          </a:xfrm>
          <a:prstGeom prst="roundRect">
            <a:avLst>
              <a:gd name="adj" fmla="val 7229"/>
            </a:avLst>
          </a:prstGeom>
          <a:solidFill>
            <a:srgbClr val="0E1729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3529584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прибыль: 38,6 млн сум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15568" y="3986784"/>
            <a:ext cx="4215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18% больше, чем в прошлом месяце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15568" y="4315968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3563E9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финансы 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50474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ещё MCP-сервер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3400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набор инструментов отдаётся по Model Context Protocol (JSON-RPC): владелец может подключить Claude Desktop к своему сервису тем же токеном, которым уже пользуется.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91072" y="2304288"/>
            <a:ext cx="5349240" cy="3785616"/>
          </a:xfrm>
          <a:prstGeom prst="roundRect">
            <a:avLst>
              <a:gd name="adj" fmla="val 2899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1112" y="2615184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068312" y="25968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чтение — по устройству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56832" y="3200400"/>
            <a:ext cx="46177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реестре только инструменты List и Get — инструмента на создание, изменение или удаление просто не существует.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определяется по данным авторизации, а не по тому, что запросила модель.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жёстко закреплён за своим сервисом; читать по всем может только супер-администратор.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очищается по строгому списку разрешённых тегов, прежде чем попасть на экран.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 для Узбекистана, а не переведено на узбекский.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3794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05740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Фискальный чек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64261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Продавец, СТИР, кассир, позиции, QR и номер чека ОФД.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6252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5708" y="183794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3605708" y="205740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 и мультивалютность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05708" y="264261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сервиса свой курс и полная история курсов.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3864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3320" y="183794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43320" y="205740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Насия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3320" y="264261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в долг ведутся на реальных лицевых счетах клиентов.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61475" y="160020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0931" y="183794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9280931" y="205740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Расчёты между компаниями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80931" y="264261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Перечисление между юрлицами и взаиморасчёты с контрагентами.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94106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16052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и Telegram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8096" y="474573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через PlayMobile и OTP через Telegram Gateway с автоматическим запасным каналом.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6252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5708" y="394106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3605708" y="416052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языка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05708" y="474573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O‘zbekcha, Ўзбекча и Русский во всём интерфейсе.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23864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3320" y="394106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3320" y="416052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Девять форматов номеров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43320" y="474573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Узбекские госномера и ещё восемь форматов СНГ в достоверном виде.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61475" y="3703320"/>
            <a:ext cx="2581580" cy="1883664"/>
          </a:xfrm>
          <a:prstGeom prst="roundRect">
            <a:avLst>
              <a:gd name="adj" fmla="val 485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80931" y="3941064"/>
            <a:ext cx="164592" cy="16459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4" name="Text 32"/>
          <p:cNvSpPr/>
          <p:nvPr/>
        </p:nvSpPr>
        <p:spPr>
          <a:xfrm>
            <a:off x="9280931" y="4160520"/>
            <a:ext cx="21792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автомобилей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80931" y="4745736"/>
            <a:ext cx="2142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Марки и модели с логотипами, которые ведутся централизованно.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Построено как инфраструктура.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Контракты на protobuf, семь сервисов на Go за одним шлюзом и развёртывание, которое обновляет себя само.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93392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67712" y="1993392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Веб-панель · Телефон мастера · Telegram-бот · Админ-панель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798064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Периметр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67712" y="2798064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— TLS-сертификаты автоматически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0E1729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60273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Шлюз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67712" y="3602736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 → gRPC · 169 эндпоинтов · авторизация, права, CORS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07408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0E1729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407408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67712" y="4407408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customer · workorder · invoice · notification · reporting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6675120" cy="676656"/>
          </a:xfrm>
          <a:prstGeom prst="roundRect">
            <a:avLst>
              <a:gd name="adj" fmla="val 13514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5212080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-1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67712" y="5212080"/>
            <a:ext cx="4718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шесть изолированных баз · шина событий NATS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1993392"/>
            <a:ext cx="4053535" cy="3895344"/>
          </a:xfrm>
          <a:prstGeom prst="roundRect">
            <a:avLst>
              <a:gd name="adj" fmla="val 2817"/>
            </a:avLst>
          </a:prstGeom>
          <a:solidFill>
            <a:srgbClr val="0E1729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0416" y="2322576"/>
            <a:ext cx="292608" cy="29260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2304288"/>
            <a:ext cx="3047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/ CD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18704" y="2852928"/>
            <a:ext cx="3395167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собирает образ на каждый сервис и публикует его при каждом слиянии.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сам забирает и перезапускает обновившиеся сервисы — ручного деплоя нет.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 безопасно переигрываются под блокировкой при каждом рестарте.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Loki и Promtail поставляются вместе со стеком.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Рассчитано на MVP на одном VPS, с описанным переходом на управляемый Postgres и HA.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прототип. Это работающая система.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35224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микросервисов на Go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8698" y="1874520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018" y="2148840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43018" y="2935224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REST-эндпоинтов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8757" y="1874520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3077" y="2148840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463077" y="2935224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автоматических тестов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95928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22960" y="4782312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миграций базы данных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8698" y="3721608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3018" y="3995928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65k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643018" y="4782312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кода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8757" y="3721608"/>
            <a:ext cx="3454298" cy="1627632"/>
          </a:xfrm>
          <a:prstGeom prst="roundRect">
            <a:avLst>
              <a:gd name="adj" fmla="val 6742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3077" y="3995928"/>
            <a:ext cx="2905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6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463077" y="4782312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видов отчётов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54126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репозиториев, общий protobuf-контракт и развёртывание одной командой, на котором стек уже работает целиком.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заложена в конструкцию.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47088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1792224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 на границе сервиса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70432" y="2139696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сервис берёт принадлежность к автосервису из токена. Шесть отдельных баз, никаких запросов между ними.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91072" y="157276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7104" y="1847088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6912864" y="1792224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Роли, которые сервис задаёт сам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12864" y="2139696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Произвольные роли с матрицей прав вместо трёх фиксированных, которые никогда не подходят.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328416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3273552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 не видит денег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70432" y="3621024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Себестоимость, наценку и прибыль не отдаёт API — это не спрятано стилями, этого там просто нет.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305409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7104" y="3328416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912864" y="3273552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Ссылки, которые не подобрать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12864" y="3621024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счетов и согласований случайные токены, а не порядковые номера.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535424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809744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" y="4754880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только на чтение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70432" y="5102352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и MCP физически не могут изменить ни одну запись.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91072" y="4535424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7104" y="4809744"/>
            <a:ext cx="219456" cy="21945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6912864" y="4754880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денежных операций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12864" y="5102352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 покрывает операции, которые двигают деньги или аннулируют чек.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Автопарк растёт быстрее, чем сервисы для него.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26464"/>
            <a:ext cx="3484778" cy="1133856"/>
          </a:xfrm>
          <a:prstGeom prst="roundRect">
            <a:avLst>
              <a:gd name="adj" fmla="val 9677"/>
            </a:avLst>
          </a:prstGeom>
          <a:solidFill>
            <a:srgbClr val="0E172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536192"/>
            <a:ext cx="30092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4,73 млн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86384" y="2066544"/>
            <a:ext cx="30092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автомобилей у населения Узбекистана (окт. 2025)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53458" y="1426464"/>
            <a:ext cx="3484778" cy="1133856"/>
          </a:xfrm>
          <a:prstGeom prst="roundRect">
            <a:avLst>
              <a:gd name="adj" fmla="val 9677"/>
            </a:avLst>
          </a:prstGeom>
          <a:solidFill>
            <a:srgbClr val="0E1729"/>
          </a:solidFill>
          <a:ln/>
        </p:spPr>
      </p:sp>
      <p:sp>
        <p:nvSpPr>
          <p:cNvPr id="8" name="Text 6"/>
          <p:cNvSpPr/>
          <p:nvPr/>
        </p:nvSpPr>
        <p:spPr>
          <a:xfrm>
            <a:off x="4591202" y="1536192"/>
            <a:ext cx="30092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+415 тыс.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91202" y="2066544"/>
            <a:ext cx="30092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 прибавилось за двенадцать месяцев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8277" y="1426464"/>
            <a:ext cx="3484778" cy="1133856"/>
          </a:xfrm>
          <a:prstGeom prst="roundRect">
            <a:avLst>
              <a:gd name="adj" fmla="val 9677"/>
            </a:avLst>
          </a:prstGeom>
          <a:solidFill>
            <a:srgbClr val="0E1729"/>
          </a:solidFill>
          <a:ln/>
        </p:spPr>
      </p:sp>
      <p:sp>
        <p:nvSpPr>
          <p:cNvPr id="11" name="Text 9"/>
          <p:cNvSpPr/>
          <p:nvPr/>
        </p:nvSpPr>
        <p:spPr>
          <a:xfrm>
            <a:off x="8396021" y="1536192"/>
            <a:ext cx="30092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96021" y="2066544"/>
            <a:ext cx="30092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автопарка — легковые автомобили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5349240" cy="1773936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2608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Обслуживаемая база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91840"/>
            <a:ext cx="4800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коммерческих справочниках значатся 2,030 автосервисов и 830 магазинов запчастей. Реальный рынок заметно больше и в основном неформальный — а это и есть сегмент, у которого никогда не было софта.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91072" y="2761488"/>
            <a:ext cx="5349240" cy="1773936"/>
          </a:xfrm>
          <a:prstGeom prst="roundRect">
            <a:avLst>
              <a:gd name="adj" fmla="val 5155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92608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за пределы страны уже заложен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3291840"/>
            <a:ext cx="4800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форматов номеров СНГ, три языка интерфейса и мультивалютность у каждого сервиса уже в продукте. Выход в Казахстан, Кыргызстан или Таджикистан — задача продаж, а не переписывания системы.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11094415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3659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/ SAM / SOM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4736592"/>
            <a:ext cx="7802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 исходя из вашей цены и числа достижимых автосервисов.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70585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Агентство статистики при Президенте Республики Узбекистан (stat.uz), окт. 2025; данные коммерческих бизнес-справочников, 2026.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на сервис — по размеру сервиса.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65376"/>
            <a:ext cx="2204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36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филиал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трёх мастеров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 и клиенты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Фискальные чеки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3458" y="1627632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0E1729"/>
          </a:solidFill>
          <a:ln/>
        </p:spPr>
      </p:sp>
      <p:sp>
        <p:nvSpPr>
          <p:cNvPr id="8" name="Shape 6"/>
          <p:cNvSpPr/>
          <p:nvPr/>
        </p:nvSpPr>
        <p:spPr>
          <a:xfrm>
            <a:off x="6228893" y="1883664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6228893" y="188366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Популярный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27778" y="1865376"/>
            <a:ext cx="2204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27778" y="2468880"/>
            <a:ext cx="2936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лимита мастеров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 и напоминания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и P&amp;L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AI-помощник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8277" y="1627632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2597" y="1865376"/>
            <a:ext cx="2204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32597" y="2468880"/>
            <a:ext cx="2936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филиалов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панель контроля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Индивидуальные интеграции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Приоритетная поддержка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902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растёт вместе с клиентом: больше мастеров, больше филиалов, тариф с AI и индивидуальные интеграции для сетей.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75504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7550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Заполнить: цена по тарифам · ARPU · валовая маржа · CAC и срок окупаемости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ТРЕКШН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мы сейчас.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цифры берутся из самого продукта — в нём есть CRM заявок и демо-запросов, поэтому воронка измеряется, а не оценивается.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40864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Автосервисов на платформе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889504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53458" y="2139696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9490" y="2340864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Автомобилей в системе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09490" y="2889504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158277" y="2139696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4309" y="2340864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Обработано заказ-нарядов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4309" y="2889504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041648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Ежемесячная выручка (MRR)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4590288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353458" y="384048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9490" y="4041648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месяц к месяцу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09490" y="4590288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158277" y="384048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4309" y="4041648"/>
            <a:ext cx="29727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на демо в воронке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4309" y="4590288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0E1729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5650992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5394960"/>
            <a:ext cx="102714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Заполните до выступления — только эти цифры жюри и инвестор будут проверять.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даст инвестиция.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484778" cy="4023360"/>
          </a:xfrm>
          <a:prstGeom prst="roundRect">
            <a:avLst>
              <a:gd name="adj" fmla="val 3149"/>
            </a:avLst>
          </a:prstGeom>
          <a:solidFill>
            <a:srgbClr val="0E17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2478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293613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Боевая фискализация ОФД вместо текущей заглушки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оплат Click, Payme и Uzum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первой когорты платящих сервисов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3458" y="1572768"/>
            <a:ext cx="3484778" cy="4023360"/>
          </a:xfrm>
          <a:prstGeom prst="roundRect">
            <a:avLst>
              <a:gd name="adj" fmla="val 314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7778" y="184708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462777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4978" y="1828800"/>
            <a:ext cx="2478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27778" y="2487168"/>
            <a:ext cx="293613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Нативные приложения для мастеров на iOS и Android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отчётность по сети филиалов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поставщиков запчастей внутри склада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8277" y="1572768"/>
            <a:ext cx="3484778" cy="4023360"/>
          </a:xfrm>
          <a:prstGeom prst="roundRect">
            <a:avLst>
              <a:gd name="adj" fmla="val 314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2597" y="184708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432597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89797" y="1828800"/>
            <a:ext cx="2478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2597" y="2487168"/>
            <a:ext cx="293613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Предиктивное ТО на основе сервисной истории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Контракты со страховыми и корпоративными автопарками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рынки СНГ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это строит.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8109" y="2139696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4670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 / CEO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877056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4206240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4535424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0" name="Shape 8"/>
          <p:cNvSpPr/>
          <p:nvPr/>
        </p:nvSpPr>
        <p:spPr>
          <a:xfrm>
            <a:off x="4353458" y="1755648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2928" y="2139696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7778" y="334670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10658" y="3877056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810658" y="4206240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810658" y="4535424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158277" y="1755648"/>
            <a:ext cx="3484778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E7EC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97746" y="2139696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2597" y="334670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Коммерция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15477" y="3877056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15477" y="4206240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1" name="Shape 19"/>
          <p:cNvSpPr/>
          <p:nvPr/>
        </p:nvSpPr>
        <p:spPr>
          <a:xfrm>
            <a:off x="8615477" y="4535424"/>
            <a:ext cx="2570378" cy="10973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230368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230368"/>
            <a:ext cx="105457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по каждому: имя, роль и одну строку о том, почему именно он подходит.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594360"/>
            <a:ext cx="3383280" cy="3383280"/>
          </a:xfrm>
          <a:prstGeom prst="ellipse">
            <a:avLst/>
          </a:prstGeom>
          <a:ln w="19050">
            <a:solidFill>
              <a:srgbClr val="243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3358" y="1169518"/>
            <a:ext cx="2232965" cy="2232965"/>
          </a:xfrm>
          <a:prstGeom prst="ellipse">
            <a:avLst/>
          </a:prstGeom>
          <a:ln w="19050">
            <a:solidFill>
              <a:srgbClr val="3563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2348" y="1778508"/>
            <a:ext cx="1014984" cy="10149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построена.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06654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1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— масштаб.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8094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репозиториев, семь сервисов и работающий продукт. Ищем капитал и партнёров, чтобы поставить его в каждый автосервис страны.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55371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4901184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· на что · какой рубеж закрывает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91072" y="4315968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1A2740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455371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4901184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4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· телефон · e-mail · сайт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089904"/>
            <a:ext cx="237744" cy="23774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6035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AvtoNazorat · Auto-Garaj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AvtoNazorat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AvtoNazorat — Цифровое управление автосервисом</dc:title>
  <dc:subject>PptxGenJS Presentation</dc:subject>
  <dc:creator>AvtoNazorat</dc:creator>
  <cp:lastModifiedBy>AvtoNazorat</cp:lastModifiedBy>
  <cp:revision>1</cp:revision>
  <dcterms:created xsi:type="dcterms:W3CDTF">2026-08-25T03:40:39Z</dcterms:created>
  <dcterms:modified xsi:type="dcterms:W3CDTF">2026-08-25T03:40:39Z</dcterms:modified>
</cp:coreProperties>
</file>