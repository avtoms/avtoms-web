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Digital management for auto repair shops. Work orders, customers, warehouse, finance and fiscal receipts — one platform, built for Uzbekistan and the wider CIS.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4.7-million-car market still runs on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car arrives, a job opens, the customer approves the estimate on Telegram, mechanics work it from their phones, parts leave the warehouse, a fiscal receipt is issued — and the money lands in the books by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stages, each one a state the whole shop can see. Nothing is re-typed and nothing is remembered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front doors, one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“how is profit this month?” in plain Uzbek, Russian or English. The assistant answers with real tables and clickable buttons that navigate the app to the exact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for Uzbekistan, not translated into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Contract-first protobuf, seven Go services behind one gateway, and a deployment that updates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repositories, a shared protobuf contract, and a single-command deployment that has been running the full stack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is a design decision, not a setting.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Statistics Agency under the President of the Republic of Uzbekistan (stat.uz), Oct 2025; commercial business directory data,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expands with the customer: more mechanics, more branches, the AI tier, and custom integrations for chains.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before presenting — these are the only numbers a jury or an investor will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the money buys.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each founder: name, role, and the one line that makes them the right person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built the system. Now we scale it. — Ten repositories, seven services and a working product — looking for the capital and the partners to put it in every shop in the country.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43800" y="1508760"/>
            <a:ext cx="4114800" cy="4114800"/>
          </a:xfrm>
          <a:prstGeom prst="ellipse">
            <a:avLst/>
          </a:prstGeom>
          <a:solidFill>
            <a:srgbClr val="0E1729"/>
          </a:solidFill>
          <a:ln w="19050">
            <a:solidFill>
              <a:srgbClr val="2436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43316" y="2208276"/>
            <a:ext cx="2715768" cy="2715768"/>
          </a:xfrm>
          <a:prstGeom prst="ellipse">
            <a:avLst/>
          </a:prstGeom>
          <a:solidFill>
            <a:srgbClr val="0E1729"/>
          </a:solidFill>
          <a:ln w="19050">
            <a:solidFill>
              <a:srgbClr val="3563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83980" y="2948940"/>
            <a:ext cx="1234440" cy="123444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5" name="Shape 3"/>
          <p:cNvSpPr/>
          <p:nvPr/>
        </p:nvSpPr>
        <p:spPr>
          <a:xfrm>
            <a:off x="548640" y="566928"/>
            <a:ext cx="274320" cy="27432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6" name="Text 4"/>
          <p:cNvSpPr/>
          <p:nvPr/>
        </p:nvSpPr>
        <p:spPr>
          <a:xfrm>
            <a:off x="932688" y="548640"/>
            <a:ext cx="365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AvtoNazorat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859536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Auto-Garaj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938528"/>
            <a:ext cx="6949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management for auto repair shops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749808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auto shop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3017520"/>
            <a:ext cx="749808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spc="-12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one screen.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548640" y="3950208"/>
            <a:ext cx="6858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orders, customers, warehouse, finance and fiscal receipts — one platform, built for Uzbekistan and the wider CIS.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029200"/>
            <a:ext cx="1609344" cy="384048"/>
          </a:xfrm>
          <a:prstGeom prst="roundRect">
            <a:avLst>
              <a:gd name="adj" fmla="val 50000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029200"/>
            <a:ext cx="16093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304288" y="5029200"/>
            <a:ext cx="1513332" cy="384048"/>
          </a:xfrm>
          <a:prstGeom prst="roundRect">
            <a:avLst>
              <a:gd name="adj" fmla="val 50000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04288" y="5029200"/>
            <a:ext cx="151333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languages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963924" y="5029200"/>
            <a:ext cx="1897380" cy="384048"/>
          </a:xfrm>
          <a:prstGeom prst="roundRect">
            <a:avLst>
              <a:gd name="adj" fmla="val 50000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63924" y="5029200"/>
            <a:ext cx="189738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plate formats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07608" y="5029200"/>
            <a:ext cx="1897380" cy="384048"/>
          </a:xfrm>
          <a:prstGeom prst="roundRect">
            <a:avLst>
              <a:gd name="adj" fmla="val 50000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07608" y="5029200"/>
            <a:ext cx="189738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Telegram-native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 Tech Award · Investor Presentation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4.7-million-car market still runs on paper.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73936"/>
            <a:ext cx="384048" cy="384048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6" name="Text 4"/>
          <p:cNvSpPr/>
          <p:nvPr/>
        </p:nvSpPr>
        <p:spPr>
          <a:xfrm>
            <a:off x="804672" y="177393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316736" y="1755648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notebook is the system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2103120"/>
            <a:ext cx="4306824" cy="7040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Jobs, agreed prices and customer debts live in a paper notebook or a chat thread. Nothing is searchable, nothing is auditable, nothing survives a staff change.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91072" y="1536192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773936"/>
            <a:ext cx="384048" cy="384048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6547104" y="177393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059168" y="1755648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flies blind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59168" y="2103120"/>
            <a:ext cx="4306824" cy="7040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can answer “what did I earn this month, and on which services?” without counting cash by hand at the end of the day.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136392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374136"/>
            <a:ext cx="384048" cy="384048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6" name="Text 14"/>
          <p:cNvSpPr/>
          <p:nvPr/>
        </p:nvSpPr>
        <p:spPr>
          <a:xfrm>
            <a:off x="804672" y="337413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316736" y="3355848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customer waits in the 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16736" y="3703320"/>
            <a:ext cx="4306824" cy="7040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estimate to approve, no status while the car is in the shop, no receipt afterwards. Trust is rebuilt from zero on every visit.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91072" y="3136392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47104" y="3374136"/>
            <a:ext cx="384048" cy="384048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1" name="Text 19"/>
          <p:cNvSpPr/>
          <p:nvPr/>
        </p:nvSpPr>
        <p:spPr>
          <a:xfrm>
            <a:off x="6547104" y="337413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59168" y="3355848"/>
            <a:ext cx="43434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Fiscal duty is a burden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59168" y="3703320"/>
            <a:ext cx="4306824" cy="7040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soliq chek is issued late, filled in by hand, or quietly skipped — and the shop carries the risk.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89204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25" name="Text 23"/>
          <p:cNvSpPr/>
          <p:nvPr/>
        </p:nvSpPr>
        <p:spPr>
          <a:xfrm>
            <a:off x="548640" y="5038344"/>
            <a:ext cx="369813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-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4.73M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31520" y="5495544"/>
            <a:ext cx="333237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vehicles registered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246778" y="5038344"/>
            <a:ext cx="369813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-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+415k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4429658" y="5495544"/>
            <a:ext cx="333237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in a single year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44917" y="5038344"/>
            <a:ext cx="369813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-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2,030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127797" y="5495544"/>
            <a:ext cx="333237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repair shops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 The whole shop.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104241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 arrives, a job opens, the customer approves the estimate on Telegram, mechanics work it from their phones, parts leave the warehouse, a fiscal receipt is issued — and the money lands in the books by itself.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24912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1078992" y="2670048"/>
            <a:ext cx="275325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orders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86384" y="3035808"/>
            <a:ext cx="300929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8-state job lifecycle with per-item mechanic assignment and time tracking.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53458" y="2487168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1202" y="2724912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4883810" y="2670048"/>
            <a:ext cx="275325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&amp; cars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1202" y="3035808"/>
            <a:ext cx="300929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search, full vehicle history and a per-car service book.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8277" y="2487168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96021" y="2724912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5" name="Text 13"/>
          <p:cNvSpPr/>
          <p:nvPr/>
        </p:nvSpPr>
        <p:spPr>
          <a:xfrm>
            <a:off x="8688629" y="2670048"/>
            <a:ext cx="275325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96021" y="3035808"/>
            <a:ext cx="300929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variants, stock movements, counter sales and a shared catalogue.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078224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" y="4315968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9" name="Text 17"/>
          <p:cNvSpPr/>
          <p:nvPr/>
        </p:nvSpPr>
        <p:spPr>
          <a:xfrm>
            <a:off x="1078992" y="4261104"/>
            <a:ext cx="275325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86384" y="4626864"/>
            <a:ext cx="300929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Multi-currency, customer and supplier ledgers, expenses and live P&amp;L.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53458" y="4078224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1202" y="4315968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3" name="Text 21"/>
          <p:cNvSpPr/>
          <p:nvPr/>
        </p:nvSpPr>
        <p:spPr>
          <a:xfrm>
            <a:off x="4883810" y="4261104"/>
            <a:ext cx="275325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Fiscal receipts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1202" y="4626864"/>
            <a:ext cx="300929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Uzbek chek with STIR, itemised discount, QR and OFD receipt id.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158277" y="4078224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96021" y="4315968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7" name="Text 25"/>
          <p:cNvSpPr/>
          <p:nvPr/>
        </p:nvSpPr>
        <p:spPr>
          <a:xfrm>
            <a:off x="8688629" y="4261104"/>
            <a:ext cx="275325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96021" y="4626864"/>
            <a:ext cx="300929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read-only tools over your own data, in plain language.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 moves itself.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stages, each one a state the whole shop can see. Nothing is re-typed and nothing is remembered by hand.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39696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359152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43584" y="2340864"/>
            <a:ext cx="258866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86384" y="2743200"/>
            <a:ext cx="300929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typed or found in one second. Car, owner and odometer attach themselves.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3458" y="2139696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1202" y="2359152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2" name="Text 10"/>
          <p:cNvSpPr/>
          <p:nvPr/>
        </p:nvSpPr>
        <p:spPr>
          <a:xfrm>
            <a:off x="4591202" y="235915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48402" y="2340864"/>
            <a:ext cx="258866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91202" y="2743200"/>
            <a:ext cx="300929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and parts pulled from the price menu; a negotiated discount is recorded, not hidden.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58277" y="2139696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6021" y="2359152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8396021" y="235915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53221" y="2340864"/>
            <a:ext cx="258866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6021" y="2743200"/>
            <a:ext cx="300929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approves or declines on Telegram — or via an unguessable web link. No app to install.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822192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" y="4041648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2" name="Text 20"/>
          <p:cNvSpPr/>
          <p:nvPr/>
        </p:nvSpPr>
        <p:spPr>
          <a:xfrm>
            <a:off x="786384" y="404164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43584" y="4023360"/>
            <a:ext cx="258866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86384" y="4425696"/>
            <a:ext cx="300929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 item is assigned to a mechanic, who moves it on their phone. Timers record real labour.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53458" y="3822192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1202" y="4041648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7" name="Text 25"/>
          <p:cNvSpPr/>
          <p:nvPr/>
        </p:nvSpPr>
        <p:spPr>
          <a:xfrm>
            <a:off x="4591202" y="404164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48402" y="4023360"/>
            <a:ext cx="258866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91202" y="4425696"/>
            <a:ext cx="300929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is notified the moment the car is ready. Parts are written off the warehouse automatically.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58277" y="3822192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96021" y="4041648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32" name="Text 30"/>
          <p:cNvSpPr/>
          <p:nvPr/>
        </p:nvSpPr>
        <p:spPr>
          <a:xfrm>
            <a:off x="8396021" y="404164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853221" y="4023360"/>
            <a:ext cx="258866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&amp; close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396021" y="4425696"/>
            <a:ext cx="300929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chek issued, split or credit payment recorded, revenue booked, next service reminder scheduled.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5486400"/>
            <a:ext cx="11094415" cy="713232"/>
          </a:xfrm>
          <a:prstGeom prst="roundRect">
            <a:avLst>
              <a:gd name="adj" fmla="val 12821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36" name="Shape 34"/>
          <p:cNvSpPr/>
          <p:nvPr/>
        </p:nvSpPr>
        <p:spPr>
          <a:xfrm>
            <a:off x="822960" y="5751576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37" name="Text 35"/>
          <p:cNvSpPr/>
          <p:nvPr/>
        </p:nvSpPr>
        <p:spPr>
          <a:xfrm>
            <a:off x="1115568" y="5577840"/>
            <a:ext cx="10271455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scheduler then follows up on its own: service reminders when they come due, appointment reminders 24 hours ahead.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front doors, one system.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19072"/>
            <a:ext cx="5349240" cy="1627632"/>
          </a:xfrm>
          <a:prstGeom prst="roundRect">
            <a:avLst>
              <a:gd name="adj" fmla="val 5618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56816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console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5464" y="1975104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4855464" y="1975104"/>
            <a:ext cx="7498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414016"/>
            <a:ext cx="476402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dashboard, job board, warehouse, finance and nine report types. Everything the person who carries the risk needs to see.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91072" y="1719072"/>
            <a:ext cx="5349240" cy="1627632"/>
          </a:xfrm>
          <a:prstGeom prst="roundRect">
            <a:avLst>
              <a:gd name="adj" fmla="val 5618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956816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 app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415016" y="1975104"/>
            <a:ext cx="932688" cy="292608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</p:spPr>
      </p:sp>
      <p:sp>
        <p:nvSpPr>
          <p:cNvPr id="12" name="Text 10"/>
          <p:cNvSpPr/>
          <p:nvPr/>
        </p:nvSpPr>
        <p:spPr>
          <a:xfrm>
            <a:off x="10415016" y="1975104"/>
            <a:ext cx="93268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0" y="2414016"/>
            <a:ext cx="476402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jobs assigned to them, moved in two taps. Costs, margins and profit are never rendered on this screen.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602736"/>
            <a:ext cx="5349240" cy="1627632"/>
          </a:xfrm>
          <a:prstGeom prst="roundRect">
            <a:avLst>
              <a:gd name="adj" fmla="val 5618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40480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98264" y="385876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4398264" y="3858768"/>
            <a:ext cx="12070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4297680"/>
            <a:ext cx="476402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an estimate, watch the job, get “your car is ready”, keep the service history. Nothing to install.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91072" y="3602736"/>
            <a:ext cx="5349240" cy="1627632"/>
          </a:xfrm>
          <a:prstGeom prst="roundRect">
            <a:avLst>
              <a:gd name="adj" fmla="val 5618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3840480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console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0140696" y="385876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</p:spPr>
      </p:sp>
      <p:sp>
        <p:nvSpPr>
          <p:cNvPr id="22" name="Text 20"/>
          <p:cNvSpPr/>
          <p:nvPr/>
        </p:nvSpPr>
        <p:spPr>
          <a:xfrm>
            <a:off x="10140696" y="3858768"/>
            <a:ext cx="12070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0" y="4297680"/>
            <a:ext cx="476402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Cross-shop control: the shared product catalogue, integrations, leads and platform-wide service performance.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your data.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1042416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“how is profit this month?” in plain Uzbek, Russian or English. The assistant answers with real tables and clickable buttons that navigate the app to the exact screen.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304288"/>
            <a:ext cx="5349240" cy="3785616"/>
          </a:xfrm>
          <a:prstGeom prst="roundRect">
            <a:avLst>
              <a:gd name="adj" fmla="val 2899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633472"/>
            <a:ext cx="3657600" cy="475488"/>
          </a:xfrm>
          <a:prstGeom prst="roundRect">
            <a:avLst>
              <a:gd name="adj" fmla="val 30769"/>
            </a:avLst>
          </a:prstGeom>
          <a:solidFill>
            <a:srgbClr val="24365A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1920240" y="2633472"/>
            <a:ext cx="34290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How’s profit this month?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68680" y="3328416"/>
            <a:ext cx="4709160" cy="1517904"/>
          </a:xfrm>
          <a:prstGeom prst="roundRect">
            <a:avLst>
              <a:gd name="adj" fmla="val 7229"/>
            </a:avLst>
          </a:prstGeom>
          <a:solidFill>
            <a:srgbClr val="0E1729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529584"/>
            <a:ext cx="4215384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5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profit: 38.6M UZS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115568" y="3986784"/>
            <a:ext cx="42153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+18% vs last month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15568" y="4315968"/>
            <a:ext cx="2194560" cy="365760"/>
          </a:xfrm>
          <a:prstGeom prst="roundRect">
            <a:avLst>
              <a:gd name="adj" fmla="val 25000"/>
            </a:avLst>
          </a:prstGeom>
          <a:solidFill>
            <a:srgbClr val="3563E9"/>
          </a:solidFill>
          <a:ln>
            <a:noFill/>
          </a:ln>
        </p:spPr>
      </p:sp>
      <p:sp>
        <p:nvSpPr>
          <p:cNvPr id="12" name="Text 10"/>
          <p:cNvSpPr/>
          <p:nvPr/>
        </p:nvSpPr>
        <p:spPr>
          <a:xfrm>
            <a:off x="1115568" y="431596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finances →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68680" y="5047488"/>
            <a:ext cx="4709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an MCP server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5340096"/>
            <a:ext cx="47091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tool registry is exposed over Model Context Protocol (JSON-RPC), so an owner can point Claude Desktop at their shop with the same bearer token they already use.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91072" y="2304288"/>
            <a:ext cx="5349240" cy="3785616"/>
          </a:xfrm>
          <a:prstGeom prst="roundRect">
            <a:avLst>
              <a:gd name="adj" fmla="val 2899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11112" y="2615184"/>
            <a:ext cx="329184" cy="329184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7068312" y="2596896"/>
            <a:ext cx="4251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by construction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56832" y="3200400"/>
            <a:ext cx="4617720" cy="2596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holds only List and Get tools — no create, update or delete tool exists to call.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is derived from the signed-in identity, never from what the model asks for.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is permanently pinned to their own shop; only a super-admin may read across shops.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are sanitised against a strict tag allowlist before they reach the screen.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Uzbekistan, not translated into it.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83794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6" name="Text 4"/>
          <p:cNvSpPr/>
          <p:nvPr/>
        </p:nvSpPr>
        <p:spPr>
          <a:xfrm>
            <a:off x="768096" y="205740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Fiscal chek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68096" y="264261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Seller, STIR, cashier, itemised lines, QR and OFD receipt id.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86252" y="160020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05708" y="183794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0" name="Text 8"/>
          <p:cNvSpPr/>
          <p:nvPr/>
        </p:nvSpPr>
        <p:spPr>
          <a:xfrm>
            <a:off x="3605708" y="205740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Soum-first, multi-currency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05708" y="264261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shop holds its own rate, with full rate history.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23864" y="160020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3320" y="183794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4" name="Text 12"/>
          <p:cNvSpPr/>
          <p:nvPr/>
        </p:nvSpPr>
        <p:spPr>
          <a:xfrm>
            <a:off x="6443320" y="205740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Nasiya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43320" y="264261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sales tracked on real customer ledgers and balances.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61475" y="160020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80931" y="183794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8" name="Text 16"/>
          <p:cNvSpPr/>
          <p:nvPr/>
        </p:nvSpPr>
        <p:spPr>
          <a:xfrm>
            <a:off x="9280931" y="205740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payments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80931" y="264261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transfer between legal entities, with counterparty ledgers.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394106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2" name="Text 20"/>
          <p:cNvSpPr/>
          <p:nvPr/>
        </p:nvSpPr>
        <p:spPr>
          <a:xfrm>
            <a:off x="768096" y="416052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+ Telegram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68096" y="474573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PlayMobile SMS and Telegram Gateway OTP, with automatic fallback.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86252" y="370332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05708" y="394106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6" name="Text 24"/>
          <p:cNvSpPr/>
          <p:nvPr/>
        </p:nvSpPr>
        <p:spPr>
          <a:xfrm>
            <a:off x="3605708" y="416052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languages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605708" y="474573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O‘zbekcha, Ўзбекча and Русский across the entire interface.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23864" y="370332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3320" y="394106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30" name="Text 28"/>
          <p:cNvSpPr/>
          <p:nvPr/>
        </p:nvSpPr>
        <p:spPr>
          <a:xfrm>
            <a:off x="6443320" y="416052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plate formats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43320" y="474573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Uzbek plates plus eight more CIS formats, rendered authentically.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061475" y="370332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280931" y="3941064"/>
            <a:ext cx="164592" cy="164592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34" name="Text 32"/>
          <p:cNvSpPr/>
          <p:nvPr/>
        </p:nvSpPr>
        <p:spPr>
          <a:xfrm>
            <a:off x="9280931" y="4160520"/>
            <a:ext cx="217924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car catalogue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280931" y="4745736"/>
            <a:ext cx="214266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and models with logos, curated centrally for every shop.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like infrastructure.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42416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Contract-first protobuf, seven Go services behind one gateway, and a deployment that updates itself.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93392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993392"/>
            <a:ext cx="141732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267712" y="1993392"/>
            <a:ext cx="4718304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 · Mechanic phone · Telegram bot · Admin console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98064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798064"/>
            <a:ext cx="141732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67712" y="2798064"/>
            <a:ext cx="4718304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Caddy — automatic TLS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12" name="Text 10"/>
          <p:cNvSpPr/>
          <p:nvPr/>
        </p:nvSpPr>
        <p:spPr>
          <a:xfrm>
            <a:off x="786384" y="3602736"/>
            <a:ext cx="141732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267712" y="3602736"/>
            <a:ext cx="4718304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 → gRPC · 169 endpoints · auth, RBAC, CORS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407408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15" name="Text 13"/>
          <p:cNvSpPr/>
          <p:nvPr/>
        </p:nvSpPr>
        <p:spPr>
          <a:xfrm>
            <a:off x="786384" y="4407408"/>
            <a:ext cx="141732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67712" y="4407408"/>
            <a:ext cx="4718304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customer · workorder · invoice · notification · reporting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5212080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5212080"/>
            <a:ext cx="141732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267712" y="5212080"/>
            <a:ext cx="4718304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PostgreSQL, six isolated databases · NATS event bus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589520" y="1993392"/>
            <a:ext cx="4053535" cy="3895344"/>
          </a:xfrm>
          <a:prstGeom prst="roundRect">
            <a:avLst>
              <a:gd name="adj" fmla="val 2817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21" name="Shape 19"/>
          <p:cNvSpPr/>
          <p:nvPr/>
        </p:nvSpPr>
        <p:spPr>
          <a:xfrm>
            <a:off x="7900416" y="2322576"/>
            <a:ext cx="292608" cy="292608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2" name="Text 20"/>
          <p:cNvSpPr/>
          <p:nvPr/>
        </p:nvSpPr>
        <p:spPr>
          <a:xfrm>
            <a:off x="8302752" y="2304288"/>
            <a:ext cx="3047695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/ CD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18704" y="2852928"/>
            <a:ext cx="3395167" cy="2798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builds one image per service and pushes to the registry on every merge.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Watchtower pulls and restarts changed services — no manual deploy step.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re-run safely under an advisory lock on every restart.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Prometheus, Grafana, Loki and Promtail ship with the stack.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for the MVP on a single VPS, with a documented path to managed Postgres and HA.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prototype. A running system.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290565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2935224"/>
            <a:ext cx="290565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microservices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68698" y="1874520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3018" y="2148840"/>
            <a:ext cx="290565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643018" y="2935224"/>
            <a:ext cx="290565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endpoints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88757" y="1874520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3077" y="2148840"/>
            <a:ext cx="290565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8463077" y="2935224"/>
            <a:ext cx="290565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21608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995928"/>
            <a:ext cx="290565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22960" y="4782312"/>
            <a:ext cx="290565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68698" y="3721608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3018" y="3995928"/>
            <a:ext cx="290565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65k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643018" y="4782312"/>
            <a:ext cx="290565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88757" y="3721608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3077" y="3995928"/>
            <a:ext cx="2905658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8463077" y="4782312"/>
            <a:ext cx="290565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types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5541264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repositories, a shared protobuf contract, and a single-command deployment that has been running the full stack end to end.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is a design decision, not a setting.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847088"/>
            <a:ext cx="219456" cy="219456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6" name="Text 4"/>
          <p:cNvSpPr/>
          <p:nvPr/>
        </p:nvSpPr>
        <p:spPr>
          <a:xfrm>
            <a:off x="1170432" y="1792224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isolation at the boundary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170432" y="2139696"/>
            <a:ext cx="447141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derives the shop from the authenticated token. Six separate databases, no cross-shop joins.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91072" y="1572768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47104" y="1847088"/>
            <a:ext cx="219456" cy="219456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0" name="Text 8"/>
          <p:cNvSpPr/>
          <p:nvPr/>
        </p:nvSpPr>
        <p:spPr>
          <a:xfrm>
            <a:off x="6912864" y="1792224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a shop defines itself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912864" y="2139696"/>
            <a:ext cx="447141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roles with a per-permission matrix, rather than three fixed roles that never fit.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3328416"/>
            <a:ext cx="219456" cy="219456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4" name="Text 12"/>
          <p:cNvSpPr/>
          <p:nvPr/>
        </p:nvSpPr>
        <p:spPr>
          <a:xfrm>
            <a:off x="1170432" y="32735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Mechanics cannot see money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70432" y="3621024"/>
            <a:ext cx="447141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margin and profit are withheld from the mechanic surface by the API, not hidden by CSS.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3054096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47104" y="3328416"/>
            <a:ext cx="219456" cy="219456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8" name="Text 16"/>
          <p:cNvSpPr/>
          <p:nvPr/>
        </p:nvSpPr>
        <p:spPr>
          <a:xfrm>
            <a:off x="6912864" y="32735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Unguessable public links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912864" y="3621024"/>
            <a:ext cx="447141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and approval links carry random tokens, never sequential identifiers.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535424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809744"/>
            <a:ext cx="219456" cy="219456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2" name="Text 20"/>
          <p:cNvSpPr/>
          <p:nvPr/>
        </p:nvSpPr>
        <p:spPr>
          <a:xfrm>
            <a:off x="1170432" y="4754880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intelligence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70432" y="5102352"/>
            <a:ext cx="447141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and MCP surfaces physically cannot mutate a record.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91072" y="4535424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47104" y="4809744"/>
            <a:ext cx="219456" cy="219456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6" name="Text 24"/>
          <p:cNvSpPr/>
          <p:nvPr/>
        </p:nvSpPr>
        <p:spPr>
          <a:xfrm>
            <a:off x="6912864" y="4754880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money paths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12864" y="5102352"/>
            <a:ext cx="447141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log covers the operations that move money or void a receipt.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fleet growing faster than the shops serving it.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26464"/>
            <a:ext cx="3484778" cy="1133856"/>
          </a:xfrm>
          <a:prstGeom prst="roundRect">
            <a:avLst>
              <a:gd name="adj" fmla="val 9677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786384" y="1536192"/>
            <a:ext cx="300929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8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4.73M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86384" y="2066544"/>
            <a:ext cx="300929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vehicles registered in Uzbekistan (Oct 2025)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53458" y="1426464"/>
            <a:ext cx="3484778" cy="1133856"/>
          </a:xfrm>
          <a:prstGeom prst="roundRect">
            <a:avLst>
              <a:gd name="adj" fmla="val 9677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8" name="Text 6"/>
          <p:cNvSpPr/>
          <p:nvPr/>
        </p:nvSpPr>
        <p:spPr>
          <a:xfrm>
            <a:off x="4591202" y="1536192"/>
            <a:ext cx="300929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8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+415k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91202" y="2066544"/>
            <a:ext cx="300929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added in twelve months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8277" y="1426464"/>
            <a:ext cx="3484778" cy="1133856"/>
          </a:xfrm>
          <a:prstGeom prst="roundRect">
            <a:avLst>
              <a:gd name="adj" fmla="val 9677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8396021" y="1536192"/>
            <a:ext cx="300929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8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92.9%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396021" y="2066544"/>
            <a:ext cx="300929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fleet is passenger cars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761488"/>
            <a:ext cx="5349240" cy="1773936"/>
          </a:xfrm>
          <a:prstGeom prst="roundRect">
            <a:avLst>
              <a:gd name="adj" fmla="val 5155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926080"/>
            <a:ext cx="4800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serviceable base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3291840"/>
            <a:ext cx="480060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2,030 auto repair shops and 830 parts stores appear in commercial business directories. The real market is materially larger and largely informal — which is precisely the segment that has never had software.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91072" y="2761488"/>
            <a:ext cx="5349240" cy="1773936"/>
          </a:xfrm>
          <a:prstGeom prst="roundRect">
            <a:avLst>
              <a:gd name="adj" fmla="val 5155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2926080"/>
            <a:ext cx="4800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 is already engineered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65392" y="3291840"/>
            <a:ext cx="480060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CIS plate formats, three interface languages and per-shop multi-currency are in the product today. Entering Kazakhstan, Kyrgyzstan or Tajikistan is a go-to-market exercise, not a rebuild.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736592"/>
            <a:ext cx="11094415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736592"/>
            <a:ext cx="2743200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/ SAM / SOM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4736592"/>
            <a:ext cx="780257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completed with your pricing and reachable-shop assumptions.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705856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Statistics Agency under the President of the Republic of Uzbekistan (stat.uz), Oct 2025; commercial business directory data, 2026.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subscription per shop, priced by shop size.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65376"/>
            <a:ext cx="220461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293613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location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three mechanics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 and customers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receipts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53458" y="1627632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8" name="Shape 6"/>
          <p:cNvSpPr/>
          <p:nvPr/>
        </p:nvSpPr>
        <p:spPr>
          <a:xfrm>
            <a:off x="6049670" y="1883664"/>
            <a:ext cx="1532534" cy="274320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6049670" y="1883664"/>
            <a:ext cx="153253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27778" y="1865376"/>
            <a:ext cx="220461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27778" y="2468880"/>
            <a:ext cx="293613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mechanics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bot and reminders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and P&amp;L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58277" y="1627632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2597" y="1865376"/>
            <a:ext cx="220461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32597" y="2468880"/>
            <a:ext cx="293613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locations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control panel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4590288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expands with the customer: more mechanics, more branches, the AI tier, and custom integrations for chains.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175504"/>
            <a:ext cx="1109441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75504"/>
            <a:ext cx="1054577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in: price per tier · ARPU · gross margin · CAC and payback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today.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figures come out of the product itself — it ships a lead and demo-request CRM, so the pipeline is measured, not estimated.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39696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340864"/>
            <a:ext cx="2972714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 live on the platform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889504"/>
            <a:ext cx="297271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353458" y="2139696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9490" y="2340864"/>
            <a:ext cx="2972714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under management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09490" y="2889504"/>
            <a:ext cx="297271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158277" y="2139696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4309" y="2340864"/>
            <a:ext cx="2972714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 processed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414309" y="2889504"/>
            <a:ext cx="297271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4041648"/>
            <a:ext cx="2972714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recurring revenue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4672" y="4590288"/>
            <a:ext cx="297271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4353458" y="384048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09490" y="4041648"/>
            <a:ext cx="2972714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Month-on-month growth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09490" y="4590288"/>
            <a:ext cx="297271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158277" y="384048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4309" y="4041648"/>
            <a:ext cx="2972714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requests in pipeline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414309" y="4590288"/>
            <a:ext cx="297271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548640" y="5394960"/>
            <a:ext cx="11094415" cy="694944"/>
          </a:xfrm>
          <a:prstGeom prst="roundRect">
            <a:avLst>
              <a:gd name="adj" fmla="val 13158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24" name="Shape 22"/>
          <p:cNvSpPr/>
          <p:nvPr/>
        </p:nvSpPr>
        <p:spPr>
          <a:xfrm>
            <a:off x="822960" y="5650992"/>
            <a:ext cx="182880" cy="18288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25" name="Text 23"/>
          <p:cNvSpPr/>
          <p:nvPr/>
        </p:nvSpPr>
        <p:spPr>
          <a:xfrm>
            <a:off x="1115568" y="5394960"/>
            <a:ext cx="10271455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before presenting — these are the only numbers a jury or an investor will test.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money buys.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0E1729"/>
          </a:solidFill>
          <a:ln>
            <a:noFill/>
          </a:ln>
        </p:spPr>
      </p:sp>
      <p:sp>
        <p:nvSpPr>
          <p:cNvPr id="5" name="Shape 3"/>
          <p:cNvSpPr/>
          <p:nvPr/>
        </p:nvSpPr>
        <p:spPr>
          <a:xfrm>
            <a:off x="822960" y="1901952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6" name="Text 4"/>
          <p:cNvSpPr/>
          <p:nvPr/>
        </p:nvSpPr>
        <p:spPr>
          <a:xfrm>
            <a:off x="822960" y="190195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80160" y="1883664"/>
            <a:ext cx="247893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542032"/>
            <a:ext cx="2936138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OFD fiscalisation replacing the current stub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Click, Payme and Uzum payment acceptance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cohort of paying shops onboarded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53458" y="1627632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27778" y="1901952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4627778" y="190195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84978" y="1883664"/>
            <a:ext cx="247893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7778" y="2542032"/>
            <a:ext cx="2936138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iOS and Android apps for mechanics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reporting across branches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supplier marketplace inside the warehouse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58277" y="1627632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2597" y="1901952"/>
            <a:ext cx="365760" cy="365760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6" name="Text 14"/>
          <p:cNvSpPr/>
          <p:nvPr/>
        </p:nvSpPr>
        <p:spPr>
          <a:xfrm>
            <a:off x="8432597" y="190195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89797" y="1883664"/>
            <a:ext cx="247893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32597" y="2542032"/>
            <a:ext cx="2936138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from service-book history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and corporate fleet contracts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entry across the CIS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building this.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8109" y="2139696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346704"/>
            <a:ext cx="293613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/ CEO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" y="3877056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8" name="Shape 6"/>
          <p:cNvSpPr/>
          <p:nvPr/>
        </p:nvSpPr>
        <p:spPr>
          <a:xfrm>
            <a:off x="1005840" y="4206240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9" name="Shape 7"/>
          <p:cNvSpPr/>
          <p:nvPr/>
        </p:nvSpPr>
        <p:spPr>
          <a:xfrm>
            <a:off x="1005840" y="4535424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10" name="Shape 8"/>
          <p:cNvSpPr/>
          <p:nvPr/>
        </p:nvSpPr>
        <p:spPr>
          <a:xfrm>
            <a:off x="4353458" y="1755648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92928" y="2139696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7778" y="3346704"/>
            <a:ext cx="293613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10658" y="3877056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14" name="Shape 12"/>
          <p:cNvSpPr/>
          <p:nvPr/>
        </p:nvSpPr>
        <p:spPr>
          <a:xfrm>
            <a:off x="4810658" y="4206240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15" name="Shape 13"/>
          <p:cNvSpPr/>
          <p:nvPr/>
        </p:nvSpPr>
        <p:spPr>
          <a:xfrm>
            <a:off x="4810658" y="4535424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16" name="Shape 14"/>
          <p:cNvSpPr/>
          <p:nvPr/>
        </p:nvSpPr>
        <p:spPr>
          <a:xfrm>
            <a:off x="8158277" y="1755648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97746" y="2139696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32597" y="3346704"/>
            <a:ext cx="293613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15477" y="3877056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20" name="Shape 18"/>
          <p:cNvSpPr/>
          <p:nvPr/>
        </p:nvSpPr>
        <p:spPr>
          <a:xfrm>
            <a:off x="8615477" y="4206240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21" name="Shape 19"/>
          <p:cNvSpPr/>
          <p:nvPr/>
        </p:nvSpPr>
        <p:spPr>
          <a:xfrm>
            <a:off x="8615477" y="4535424"/>
            <a:ext cx="2570378" cy="10973"/>
          </a:xfrm>
          <a:prstGeom prst="rect">
            <a:avLst/>
          </a:prstGeom>
          <a:solidFill>
            <a:srgbClr val="E7ECF7"/>
          </a:solidFill>
          <a:ln>
            <a:noFill/>
          </a:ln>
        </p:spPr>
      </p:sp>
      <p:sp>
        <p:nvSpPr>
          <p:cNvPr id="22" name="Shape 20"/>
          <p:cNvSpPr/>
          <p:nvPr/>
        </p:nvSpPr>
        <p:spPr>
          <a:xfrm>
            <a:off x="548640" y="5230368"/>
            <a:ext cx="11094415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230368"/>
            <a:ext cx="10545775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each founder: name, role, and the one line that makes them the right person for it.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58200" y="594360"/>
            <a:ext cx="3383280" cy="3383280"/>
          </a:xfrm>
          <a:prstGeom prst="ellipse">
            <a:avLst/>
          </a:prstGeom>
          <a:solidFill>
            <a:srgbClr val="0E1729"/>
          </a:solidFill>
          <a:ln w="19050">
            <a:solidFill>
              <a:srgbClr val="2436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33358" y="1169518"/>
            <a:ext cx="2232965" cy="2232965"/>
          </a:xfrm>
          <a:prstGeom prst="ellipse">
            <a:avLst/>
          </a:prstGeom>
          <a:solidFill>
            <a:srgbClr val="0E1729"/>
          </a:solidFill>
          <a:ln w="19050">
            <a:solidFill>
              <a:srgbClr val="3563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2348" y="1778508"/>
            <a:ext cx="1014984" cy="1014984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786384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system.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066544"/>
            <a:ext cx="786384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1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we scale it.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980944"/>
            <a:ext cx="76809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repositories, seven services and a working product — looking for the capital and the partners to put it in every shop in the country.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315968"/>
            <a:ext cx="5349240" cy="1207008"/>
          </a:xfrm>
          <a:prstGeom prst="roundRect">
            <a:avLst>
              <a:gd name="adj" fmla="val 9091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553712"/>
            <a:ext cx="47640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41248" y="4901184"/>
            <a:ext cx="4764024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· what it buys · milestone it reaches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91072" y="4315968"/>
            <a:ext cx="5349240" cy="1207008"/>
          </a:xfrm>
          <a:prstGeom prst="roundRect">
            <a:avLst>
              <a:gd name="adj" fmla="val 9091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4553712"/>
            <a:ext cx="47640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0" y="4901184"/>
            <a:ext cx="4764024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· phone · email · website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6089904"/>
            <a:ext cx="237744" cy="237744"/>
          </a:xfrm>
          <a:prstGeom prst="ellipse">
            <a:avLst/>
          </a:prstGeom>
          <a:solidFill>
            <a:srgbClr val="FFB020"/>
          </a:solidFill>
          <a:ln>
            <a:noFill/>
          </a:ln>
        </p:spPr>
      </p:sp>
      <p:sp>
        <p:nvSpPr>
          <p:cNvPr id="15" name="Text 13"/>
          <p:cNvSpPr/>
          <p:nvPr/>
        </p:nvSpPr>
        <p:spPr>
          <a:xfrm>
            <a:off x="896112" y="6035040"/>
            <a:ext cx="73152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AvtoNazorat · Auto-Garaj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AvtoNazorat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AvtoNazorat — Digital management for auto repair shops</dc:title>
  <dc:subject>PptxGenJS Presentation</dc:subject>
  <dc:creator>AvtoNazorat</dc:creator>
  <cp:lastModifiedBy>AvtoNazorat</cp:lastModifiedBy>
  <cp:revision>1</cp:revision>
  <dcterms:created xsi:type="dcterms:W3CDTF">2026-08-25T05:27:30Z</dcterms:created>
  <dcterms:modified xsi:type="dcterms:W3CDTF">2026-08-25T05:27:30Z</dcterms:modified>
</cp:coreProperties>
</file>